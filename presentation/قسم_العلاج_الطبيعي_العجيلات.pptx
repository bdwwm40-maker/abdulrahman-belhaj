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افتتاح" id="{86b2f057-b674-6423-928c-ee7e9917005f}">
          <p14:sldIdLst>
            <p14:sldId id="256"/>
          </p14:sldIdLst>
        </p14:section>
        <p14:section name="التعريف بالقسم" id="{af25ddb4-ff37-7c8b-c8c1-484ea4f310c0}">
          <p14:sldIdLst>
            <p14:sldId id="257"/>
          </p14:sldIdLst>
        </p14:section>
        <p14:section name="الرؤية والرسالة" id="{d2e0703b-bdee-b117-c172-a473c3376acb}">
          <p14:sldIdLst>
            <p14:sldId id="258"/>
            <p14:sldId id="259"/>
          </p14:sldIdLst>
        </p14:section>
        <p14:section name="الأهداف" id="{3761c514-533d-3075-6b4e-e3e78b162c8e}">
          <p14:sldIdLst>
            <p14:sldId id="260"/>
          </p14:sldIdLst>
        </p14:section>
        <p14:section name="البرنامج الدراسي" id="{eae8cd80-7323-9691-ce90-559f035e3e00}">
          <p14:sldIdLst>
            <p14:sldId id="261"/>
            <p14:sldId id="262"/>
          </p14:sldIdLst>
        </p14:section>
        <p14:section name="الخريج وسوق العمل" id="{4c958b3b-e184-0c6d-c019-51dcc81deee4}">
          <p14:sldIdLst>
            <p14:sldId id="263"/>
          </p14:sldIdLst>
        </p14:section>
        <p14:section name="الختام" id="{5b37acf9-1a1d-101d-fdbd-fdee580d43cd}">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بكم. يسعدنا تقديم تعريف بقسم العلاج الطبيعي بكلية العلوم الصحية العجيلات - جامعة الزاوية، برئاسة الدكتورة سناء بلق.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نبذة تعريفية عامة عن القسم ودوره الأكاديمي والمجتمعي.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الرؤية: الريادة والتميز في التعليم والتدريب والبحث العلمي في العلاج الطبيعي.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الرسالة تقوم على أربع ركائز: التعليم، التدريب السريري، البحث العلمي، وخدمة المجتمع.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ستة أهداف رئيسية توجه عمل القسم.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يغطي البرنامج أهم مجالات العلاج الطبيعي التخصصية.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المراحل عامة؛ تُضبط التفاصيل الدقيقة (عدد الفصول والمقررات) وفق اللائحة الدراسية المعتمدة بالقسم.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صفات الخريج ومجالات العمل المتاحة له بعد التخرج.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ختام العرض وفتح باب الأسئلة.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280160"/>
          </a:xfrm>
          <a:prstGeom prst="rect">
            <a:avLst/>
          </a:prstGeom>
          <a:noFill/>
          <a:ln/>
        </p:spPr>
        <p:txBody>
          <a:bodyPr wrap="square" rtlCol="0"/>
          <a:lstStyle>
            <a:lvl1pPr algn="r" indent="0" marL="0">
              <a:buNone/>
              <a:defRPr lang="en-US" sz="4400" b="1" dirty="0">
                <a:solidFill>
                  <a:schemeClr val="bg1"/>
                </a:solidFill>
              </a:defRPr>
            </a:lvl1pPr>
          </a:lstStyle>
          <a:p>
            <a:pPr algn="r"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rtlCol="0"/>
          <a:lstStyle>
            <a:lvl1pPr algn="r" indent="0" marL="0">
              <a:buNone/>
              <a:defRPr lang="en-US" sz="3600" b="1" dirty="0">
                <a:solidFill>
                  <a:schemeClr val="accent1"/>
                </a:solidFill>
              </a:defRPr>
            </a:lvl1pPr>
          </a:lstStyle>
          <a:p>
            <a:pPr algn="r" indent="0" marL="0">
              <a:buNone/>
            </a:pPr>
            <a:endParaRPr lang="en-US" sz="3600" dirty="0"/>
          </a:p>
        </p:txBody>
      </p:sp>
      <p:sp>
        <p:nvSpPr>
          <p:cNvPr id="3" name="Text 0"/>
          <p:cNvSpPr/>
          <p:nvPr/>
        </p:nvSpPr>
        <p:spPr>
          <a:xfrm>
            <a:off x="548640" y="6355080"/>
            <a:ext cx="7315200" cy="320040"/>
          </a:xfrm>
          <a:prstGeom prst="rect">
            <a:avLst/>
          </a:prstGeom>
          <a:noFill/>
          <a:ln/>
        </p:spPr>
        <p:txBody>
          <a:bodyPr wrap="square" rtlCol="0" anchor="ctr"/>
          <a:lstStyle/>
          <a:p>
            <a:pPr algn="l" indent="0" marL="0">
              <a:buNone/>
            </a:pPr>
            <a:r>
              <a:rPr lang="en-US" sz="1000" dirty="0">
                <a:solidFill>
                  <a:schemeClr val="accent5"/>
                </a:solidFill>
              </a:rPr>
              <a:t>قسم العلاج الطبيعي | كلية العلوم الصحية العجيلات - جامعة الزاوية</a:t>
            </a:r>
            <a:endParaRPr lang="en-US" sz="10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3.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eco circle 1"/>
          <p:cNvSpPr/>
          <p:nvPr/>
        </p:nvSpPr>
        <p:spPr>
          <a:xfrm>
            <a:off x="-1463040" y="3291840"/>
            <a:ext cx="5029200" cy="5029200"/>
          </a:xfrm>
          <a:prstGeom prst="ellipse">
            <a:avLst/>
          </a:prstGeom>
          <a:solidFill>
            <a:schemeClr val="accent2">
              <a:alpha val="40000"/>
            </a:schemeClr>
          </a:solidFill>
          <a:ln w="12700">
            <a:solidFill>
              <a:schemeClr val="accent2">
                <a:alpha val="0"/>
              </a:schemeClr>
            </a:solidFill>
            <a:prstDash val="solid"/>
          </a:ln>
        </p:spPr>
      </p:sp>
      <p:sp>
        <p:nvSpPr>
          <p:cNvPr id="3" name="deco circle 2"/>
          <p:cNvSpPr/>
          <p:nvPr/>
        </p:nvSpPr>
        <p:spPr>
          <a:xfrm>
            <a:off x="1280160" y="-1645920"/>
            <a:ext cx="2926080" cy="2926080"/>
          </a:xfrm>
          <a:prstGeom prst="ellipse">
            <a:avLst/>
          </a:prstGeom>
          <a:solidFill>
            <a:schemeClr val="accent4">
              <a:alpha val="25000"/>
            </a:schemeClr>
          </a:solidFill>
          <a:ln w="12700">
            <a:solidFill>
              <a:schemeClr val="accent4">
                <a:alpha val="0"/>
              </a:schemeClr>
            </a:solidFill>
            <a:prstDash val="solid"/>
          </a:ln>
        </p:spPr>
      </p:sp>
      <p:sp>
        <p:nvSpPr>
          <p:cNvPr id="4" name="physiotherapy circle"/>
          <p:cNvSpPr/>
          <p:nvPr/>
        </p:nvSpPr>
        <p:spPr>
          <a:xfrm>
            <a:off x="1097280" y="1828800"/>
            <a:ext cx="2194560" cy="2194560"/>
          </a:xfrm>
          <a:prstGeom prst="ellipse">
            <a:avLst/>
          </a:prstGeom>
          <a:solidFill>
            <a:srgbClr val="FFFFFF"/>
          </a:solidFill>
          <a:ln w="12700">
            <a:solidFill>
              <a:srgbClr val="FFFFFF"/>
            </a:solidFill>
            <a:prstDash val="solid"/>
          </a:ln>
        </p:spPr>
      </p:sp>
      <p:pic>
        <p:nvPicPr>
          <p:cNvPr id="5" name="physiotherapy icon" descr="physiotherapy">    </p:cNvPr>
          <p:cNvPicPr>
            <a:picLocks noChangeAspect="1"/>
          </p:cNvPicPr>
          <p:nvPr/>
        </p:nvPicPr>
        <p:blipFill>
          <a:blip r:embed="rId1"/>
          <a:stretch>
            <a:fillRect/>
          </a:stretch>
        </p:blipFill>
        <p:spPr>
          <a:xfrm>
            <a:off x="1645920" y="2377440"/>
            <a:ext cx="1097280" cy="1097280"/>
          </a:xfrm>
          <a:prstGeom prst="rect">
            <a:avLst/>
          </a:prstGeom>
        </p:spPr>
      </p:pic>
      <p:sp>
        <p:nvSpPr>
          <p:cNvPr id="6" name="university"/>
          <p:cNvSpPr txBox="1"/>
          <p:nvPr/>
        </p:nvSpPr>
        <p:spPr>
          <a:xfrm>
            <a:off x="3840480" y="1097280"/>
            <a:ext cx="7589520" cy="548640"/>
          </a:xfrm>
          <a:prstGeom prst="rect">
            <a:avLst/>
          </a:prstGeom>
          <a:noFill/>
          <a:ln/>
        </p:spPr>
        <p:txBody>
          <a:bodyPr wrap="square" rtlCol="0" anchor="ctr"/>
          <a:lstStyle/>
          <a:p>
            <a:pPr rtl="1" algn="r" indent="0" marL="0">
              <a:buNone/>
            </a:pPr>
            <a:r>
              <a:rPr lang="ar-LY" altLang="en-US" sz="2000" dirty="0">
                <a:solidFill>
                  <a:schemeClr val="accent4"/>
                </a:solidFill>
              </a:rPr>
              <a:t>جامعة الزاوية  •  كلية العلوم الصحية العجيلات</a:t>
            </a:r>
            <a:endParaRPr lang="ar-LY" sz="2000" dirty="0"/>
          </a:p>
        </p:txBody>
      </p:sp>
      <p:sp>
        <p:nvSpPr>
          <p:cNvPr id="7" name="Text 0"/>
          <p:cNvSpPr/>
          <p:nvPr>
            <p:ph idx="100" type="title" hasCustomPrompt="1"/>
          </p:nvPr>
        </p:nvSpPr>
        <p:spPr>
          <a:xfrm>
            <a:off x="731520" y="2011680"/>
            <a:ext cx="10698480" cy="1280160"/>
          </a:xfrm>
          <a:prstGeom prst="rect">
            <a:avLst/>
          </a:prstGeom>
          <a:noFill/>
          <a:ln/>
        </p:spPr>
        <p:txBody>
          <a:bodyPr wrap="square" rtlCol="0" anchor="ctr"/>
          <a:lstStyle/>
          <a:p>
            <a:pPr rtl="1" algn="r" indent="0" marL="0">
              <a:buNone/>
            </a:pPr>
            <a:r>
              <a:rPr lang="ar-LY" altLang="en-US" sz="4400" b="1" dirty="0">
                <a:solidFill>
                  <a:schemeClr val="bg1"/>
                </a:solidFill>
              </a:rPr>
              <a:t>قسم العلاج الطبيعي</a:t>
            </a:r>
            <a:endParaRPr lang="ar-LY" sz="4400" dirty="0"/>
          </a:p>
        </p:txBody>
      </p:sp>
      <p:sp>
        <p:nvSpPr>
          <p:cNvPr id="8" name="subtitle"/>
          <p:cNvSpPr txBox="1"/>
          <p:nvPr/>
        </p:nvSpPr>
        <p:spPr>
          <a:xfrm>
            <a:off x="3840480" y="3383280"/>
            <a:ext cx="7589520" cy="548640"/>
          </a:xfrm>
          <a:prstGeom prst="rect">
            <a:avLst/>
          </a:prstGeom>
          <a:noFill/>
          <a:ln/>
        </p:spPr>
        <p:txBody>
          <a:bodyPr wrap="square" rtlCol="0" anchor="ctr"/>
          <a:lstStyle/>
          <a:p>
            <a:pPr rtl="1" algn="r" indent="0" marL="0">
              <a:buNone/>
            </a:pPr>
            <a:r>
              <a:rPr lang="ar-LY" altLang="en-US" sz="2200" dirty="0">
                <a:solidFill>
                  <a:schemeClr val="bg1"/>
                </a:solidFill>
              </a:rPr>
              <a:t>التعريف بالقسم: الرؤية • الرسالة • الأهداف</a:t>
            </a:r>
            <a:endParaRPr lang="ar-LY" sz="2200" dirty="0"/>
          </a:p>
        </p:txBody>
      </p:sp>
      <p:sp>
        <p:nvSpPr>
          <p:cNvPr id="9" name="head card"/>
          <p:cNvSpPr/>
          <p:nvPr/>
        </p:nvSpPr>
        <p:spPr>
          <a:xfrm>
            <a:off x="7040880" y="4480560"/>
            <a:ext cx="4389120" cy="1005840"/>
          </a:xfrm>
          <a:prstGeom prst="roundRect">
            <a:avLst>
              <a:gd name="adj" fmla="val 13636"/>
            </a:avLst>
          </a:prstGeom>
          <a:solidFill>
            <a:schemeClr val="accent3"/>
          </a:solidFill>
          <a:ln w="12700">
            <a:solidFill>
              <a:schemeClr val="accent3"/>
            </a:solidFill>
            <a:prstDash val="solid"/>
          </a:ln>
        </p:spPr>
      </p:sp>
      <p:sp>
        <p:nvSpPr>
          <p:cNvPr id="10" name="head name"/>
          <p:cNvSpPr txBox="1"/>
          <p:nvPr/>
        </p:nvSpPr>
        <p:spPr>
          <a:xfrm>
            <a:off x="7223760" y="4526280"/>
            <a:ext cx="4023360" cy="914400"/>
          </a:xfrm>
          <a:prstGeom prst="rect">
            <a:avLst/>
          </a:prstGeom>
          <a:noFill/>
          <a:ln/>
        </p:spPr>
        <p:txBody>
          <a:bodyPr wrap="square" rtlCol="0" anchor="ctr"/>
          <a:lstStyle/>
          <a:p>
            <a:pPr algn="r" indent="0" marL="0">
              <a:buNone/>
            </a:pPr>
            <a:r>
              <a:rPr lang="ar-LY" altLang="en-US" sz="1400" dirty="0">
                <a:solidFill>
                  <a:schemeClr val="tx1"/>
                </a:solidFill>
              </a:rPr>
              <a:t>رئيس القسم</a:t>
            </a:r>
            <a:endParaRPr lang="ar-LY" sz="1400" dirty="0"/>
          </a:p>
          <a:p>
            <a:pPr algn="r" indent="0" marL="0">
              <a:buNone/>
            </a:pPr>
            <a:r>
              <a:rPr lang="ar-LY" altLang="en-US" sz="2400" b="1" dirty="0">
                <a:solidFill>
                  <a:schemeClr val="tx1"/>
                </a:solidFill>
              </a:rPr>
              <a:t>د. سناء بلق</a:t>
            </a:r>
            <a:endParaRPr lang="ar-LY"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rtlCol="0" anchor="ctr"/>
          <a:lstStyle/>
          <a:p>
            <a:pPr rtl="1" algn="r" indent="0" marL="0">
              <a:buNone/>
            </a:pPr>
            <a:r>
              <a:rPr lang="ar-LY" altLang="en-US" sz="3600" b="1" dirty="0">
                <a:solidFill>
                  <a:schemeClr val="accent1"/>
                </a:solidFill>
              </a:rPr>
              <a:t>نبذة عن القسم</a:t>
            </a:r>
            <a:endParaRPr lang="ar-LY" sz="3600" dirty="0"/>
          </a:p>
        </p:txBody>
      </p:sp>
      <p:sp>
        <p:nvSpPr>
          <p:cNvPr id="3" name="about text"/>
          <p:cNvSpPr txBox="1"/>
          <p:nvPr/>
        </p:nvSpPr>
        <p:spPr>
          <a:xfrm>
            <a:off x="4023360" y="1417320"/>
            <a:ext cx="7616952" cy="4206240"/>
          </a:xfrm>
          <a:prstGeom prst="rect">
            <a:avLst/>
          </a:prstGeom>
          <a:noFill/>
          <a:ln/>
        </p:spPr>
        <p:txBody>
          <a:bodyPr wrap="square" rtlCol="0" anchor="t"/>
          <a:lstStyle/>
          <a:p>
            <a:pPr algn="r" indent="0" marL="0">
              <a:spcAft>
                <a:spcPts val="1400"/>
              </a:spcAft>
              <a:buNone/>
            </a:pPr>
            <a:r>
              <a:rPr lang="ar-LY" altLang="en-US" sz="1800" dirty="0">
                <a:solidFill>
                  <a:schemeClr val="tx1"/>
                </a:solidFill>
              </a:rPr>
              <a:t>قسم العلاج الطبيعي أحد الأقسام العلمية بكلية العلوم الصحية العجيلات - جامعة الزاوية، ويُعنى بإعداد أخصائيين مؤهلين علمياً وعملياً في مجال التأهيل والعلاج الطبيعي.</a:t>
            </a:r>
            <a:endParaRPr lang="ar-LY" sz="1800" dirty="0"/>
          </a:p>
          <a:p>
            <a:pPr algn="r" indent="0" marL="0">
              <a:spcAft>
                <a:spcPts val="1400"/>
              </a:spcAft>
              <a:buNone/>
            </a:pPr>
            <a:r>
              <a:rPr lang="ar-LY" altLang="en-US" sz="1800" dirty="0">
                <a:solidFill>
                  <a:schemeClr val="tx1"/>
                </a:solidFill>
              </a:rPr>
              <a:t>يجمع البرنامج بين العلوم الطبية الأساسية والعلوم التخصصية والتدريب السريري في المستشفيات ومراكز التأهيل.</a:t>
            </a:r>
            <a:endParaRPr lang="ar-LY" sz="1800" dirty="0"/>
          </a:p>
          <a:p>
            <a:pPr algn="r" indent="0" marL="0">
              <a:spcAft>
                <a:spcPts val="1400"/>
              </a:spcAft>
              <a:buNone/>
            </a:pPr>
            <a:r>
              <a:rPr lang="ar-LY" altLang="en-US" sz="1800" dirty="0">
                <a:solidFill>
                  <a:schemeClr val="tx1"/>
                </a:solidFill>
              </a:rPr>
              <a:t>يسهم القسم في خدمة المجتمع المحلي بمنطقة العجيلات وما حولها من خلال نشر الوعي الصحي ودعم برامج الوقاية والتأهيل.</a:t>
            </a:r>
            <a:endParaRPr lang="ar-LY" sz="1800" dirty="0"/>
          </a:p>
        </p:txBody>
      </p:sp>
      <p:sp>
        <p:nvSpPr>
          <p:cNvPr id="4" name="about card 1"/>
          <p:cNvSpPr/>
          <p:nvPr/>
        </p:nvSpPr>
        <p:spPr>
          <a:xfrm>
            <a:off x="548640" y="1417320"/>
            <a:ext cx="3108960" cy="1234440"/>
          </a:xfrm>
          <a:prstGeom prst="roundRect">
            <a:avLst>
              <a:gd name="adj" fmla="val 8889"/>
            </a:avLst>
          </a:prstGeom>
          <a:solidFill>
            <a:schemeClr val="bg2"/>
          </a:solidFill>
          <a:ln w="12700">
            <a:solidFill>
              <a:schemeClr val="bg2"/>
            </a:solidFill>
            <a:prstDash val="solid"/>
          </a:ln>
        </p:spPr>
      </p:sp>
      <p:sp>
        <p:nvSpPr>
          <p:cNvPr id="5" name="about 1 circle"/>
          <p:cNvSpPr/>
          <p:nvPr/>
        </p:nvSpPr>
        <p:spPr>
          <a:xfrm>
            <a:off x="2697480" y="1645920"/>
            <a:ext cx="777240" cy="777240"/>
          </a:xfrm>
          <a:prstGeom prst="ellipse">
            <a:avLst/>
          </a:prstGeom>
          <a:solidFill>
            <a:srgbClr val="0E5E6F"/>
          </a:solidFill>
          <a:ln w="12700">
            <a:solidFill>
              <a:srgbClr val="0E5E6F"/>
            </a:solidFill>
            <a:prstDash val="solid"/>
          </a:ln>
        </p:spPr>
      </p:sp>
      <p:pic>
        <p:nvPicPr>
          <p:cNvPr id="6" name="about 1 icon" descr="about 1">    </p:cNvPr>
          <p:cNvPicPr>
            <a:picLocks noChangeAspect="1"/>
          </p:cNvPicPr>
          <p:nvPr/>
        </p:nvPicPr>
        <p:blipFill>
          <a:blip r:embed="rId1"/>
          <a:stretch>
            <a:fillRect/>
          </a:stretch>
        </p:blipFill>
        <p:spPr>
          <a:xfrm>
            <a:off x="2891790" y="1840230"/>
            <a:ext cx="388620" cy="388620"/>
          </a:xfrm>
          <a:prstGeom prst="rect">
            <a:avLst/>
          </a:prstGeom>
        </p:spPr>
      </p:pic>
      <p:sp>
        <p:nvSpPr>
          <p:cNvPr id="7" name="about card text 1"/>
          <p:cNvSpPr txBox="1"/>
          <p:nvPr/>
        </p:nvSpPr>
        <p:spPr>
          <a:xfrm>
            <a:off x="640080" y="1554480"/>
            <a:ext cx="1965960" cy="960120"/>
          </a:xfrm>
          <a:prstGeom prst="rect">
            <a:avLst/>
          </a:prstGeom>
          <a:noFill/>
          <a:ln/>
        </p:spPr>
        <p:txBody>
          <a:bodyPr wrap="square" lIns="0" tIns="0" rIns="0" bIns="0" rtlCol="0" anchor="ctr"/>
          <a:lstStyle/>
          <a:p>
            <a:pPr algn="r" indent="0" marL="0">
              <a:buNone/>
            </a:pPr>
            <a:r>
              <a:rPr lang="ar-LY" altLang="en-US" sz="1600" b="1" dirty="0">
                <a:solidFill>
                  <a:schemeClr val="accent1"/>
                </a:solidFill>
              </a:rPr>
              <a:t>جامعة الزاوية</a:t>
            </a:r>
            <a:endParaRPr lang="ar-LY" sz="1600" dirty="0"/>
          </a:p>
          <a:p>
            <a:pPr algn="r" indent="0" marL="0">
              <a:buNone/>
            </a:pPr>
            <a:r>
              <a:rPr lang="ar-LY" altLang="en-US" sz="1200" dirty="0">
                <a:solidFill>
                  <a:schemeClr val="accent5"/>
                </a:solidFill>
              </a:rPr>
              <a:t>مؤسسة أكاديمية حكومية</a:t>
            </a:r>
            <a:endParaRPr lang="ar-LY" sz="1600" dirty="0"/>
          </a:p>
        </p:txBody>
      </p:sp>
      <p:sp>
        <p:nvSpPr>
          <p:cNvPr id="8" name="about card 2"/>
          <p:cNvSpPr/>
          <p:nvPr/>
        </p:nvSpPr>
        <p:spPr>
          <a:xfrm>
            <a:off x="548640" y="2880360"/>
            <a:ext cx="3108960" cy="1234440"/>
          </a:xfrm>
          <a:prstGeom prst="roundRect">
            <a:avLst>
              <a:gd name="adj" fmla="val 8889"/>
            </a:avLst>
          </a:prstGeom>
          <a:solidFill>
            <a:schemeClr val="bg2"/>
          </a:solidFill>
          <a:ln w="12700">
            <a:solidFill>
              <a:schemeClr val="bg2"/>
            </a:solidFill>
            <a:prstDash val="solid"/>
          </a:ln>
        </p:spPr>
      </p:sp>
      <p:sp>
        <p:nvSpPr>
          <p:cNvPr id="9" name="about 2 circle"/>
          <p:cNvSpPr/>
          <p:nvPr/>
        </p:nvSpPr>
        <p:spPr>
          <a:xfrm>
            <a:off x="2697480" y="3108960"/>
            <a:ext cx="777240" cy="777240"/>
          </a:xfrm>
          <a:prstGeom prst="ellipse">
            <a:avLst/>
          </a:prstGeom>
          <a:solidFill>
            <a:srgbClr val="0E5E6F"/>
          </a:solidFill>
          <a:ln w="12700">
            <a:solidFill>
              <a:srgbClr val="0E5E6F"/>
            </a:solidFill>
            <a:prstDash val="solid"/>
          </a:ln>
        </p:spPr>
      </p:sp>
      <p:pic>
        <p:nvPicPr>
          <p:cNvPr id="10" name="about 2 icon" descr="about 2">    </p:cNvPr>
          <p:cNvPicPr>
            <a:picLocks noChangeAspect="1"/>
          </p:cNvPicPr>
          <p:nvPr/>
        </p:nvPicPr>
        <p:blipFill>
          <a:blip r:embed="rId2"/>
          <a:stretch>
            <a:fillRect/>
          </a:stretch>
        </p:blipFill>
        <p:spPr>
          <a:xfrm>
            <a:off x="2891790" y="3303270"/>
            <a:ext cx="388620" cy="388620"/>
          </a:xfrm>
          <a:prstGeom prst="rect">
            <a:avLst/>
          </a:prstGeom>
        </p:spPr>
      </p:pic>
      <p:sp>
        <p:nvSpPr>
          <p:cNvPr id="11" name="about card text 2"/>
          <p:cNvSpPr txBox="1"/>
          <p:nvPr/>
        </p:nvSpPr>
        <p:spPr>
          <a:xfrm>
            <a:off x="640080" y="3017520"/>
            <a:ext cx="1965960" cy="960120"/>
          </a:xfrm>
          <a:prstGeom prst="rect">
            <a:avLst/>
          </a:prstGeom>
          <a:noFill/>
          <a:ln/>
        </p:spPr>
        <p:txBody>
          <a:bodyPr wrap="square" lIns="0" tIns="0" rIns="0" bIns="0" rtlCol="0" anchor="ctr"/>
          <a:lstStyle/>
          <a:p>
            <a:pPr algn="r" indent="0" marL="0">
              <a:buNone/>
            </a:pPr>
            <a:r>
              <a:rPr lang="ar-LY" altLang="en-US" sz="1600" b="1" dirty="0">
                <a:solidFill>
                  <a:schemeClr val="accent1"/>
                </a:solidFill>
              </a:rPr>
              <a:t>كلية العلوم الصحية</a:t>
            </a:r>
            <a:endParaRPr lang="ar-LY" sz="1600" dirty="0"/>
          </a:p>
          <a:p>
            <a:pPr algn="r" indent="0" marL="0">
              <a:buNone/>
            </a:pPr>
            <a:r>
              <a:rPr lang="ar-LY" altLang="en-US" sz="1200" dirty="0">
                <a:solidFill>
                  <a:schemeClr val="accent5"/>
                </a:solidFill>
              </a:rPr>
              <a:t>العجيلات</a:t>
            </a:r>
            <a:endParaRPr lang="ar-LY" sz="1600" dirty="0"/>
          </a:p>
        </p:txBody>
      </p:sp>
      <p:sp>
        <p:nvSpPr>
          <p:cNvPr id="12" name="about card 3"/>
          <p:cNvSpPr/>
          <p:nvPr/>
        </p:nvSpPr>
        <p:spPr>
          <a:xfrm>
            <a:off x="548640" y="4343400"/>
            <a:ext cx="3108960" cy="1234440"/>
          </a:xfrm>
          <a:prstGeom prst="roundRect">
            <a:avLst>
              <a:gd name="adj" fmla="val 8889"/>
            </a:avLst>
          </a:prstGeom>
          <a:solidFill>
            <a:schemeClr val="bg2"/>
          </a:solidFill>
          <a:ln w="12700">
            <a:solidFill>
              <a:schemeClr val="bg2"/>
            </a:solidFill>
            <a:prstDash val="solid"/>
          </a:ln>
        </p:spPr>
      </p:sp>
      <p:sp>
        <p:nvSpPr>
          <p:cNvPr id="13" name="about 3 circle"/>
          <p:cNvSpPr/>
          <p:nvPr/>
        </p:nvSpPr>
        <p:spPr>
          <a:xfrm>
            <a:off x="2697480" y="4572000"/>
            <a:ext cx="777240" cy="777240"/>
          </a:xfrm>
          <a:prstGeom prst="ellipse">
            <a:avLst/>
          </a:prstGeom>
          <a:solidFill>
            <a:srgbClr val="0E5E6F"/>
          </a:solidFill>
          <a:ln w="12700">
            <a:solidFill>
              <a:srgbClr val="0E5E6F"/>
            </a:solidFill>
            <a:prstDash val="solid"/>
          </a:ln>
        </p:spPr>
      </p:sp>
      <p:pic>
        <p:nvPicPr>
          <p:cNvPr id="14" name="about 3 icon" descr="about 3">    </p:cNvPr>
          <p:cNvPicPr>
            <a:picLocks noChangeAspect="1"/>
          </p:cNvPicPr>
          <p:nvPr/>
        </p:nvPicPr>
        <p:blipFill>
          <a:blip r:embed="rId3"/>
          <a:stretch>
            <a:fillRect/>
          </a:stretch>
        </p:blipFill>
        <p:spPr>
          <a:xfrm>
            <a:off x="2891790" y="4766310"/>
            <a:ext cx="388620" cy="388620"/>
          </a:xfrm>
          <a:prstGeom prst="rect">
            <a:avLst/>
          </a:prstGeom>
        </p:spPr>
      </p:pic>
      <p:sp>
        <p:nvSpPr>
          <p:cNvPr id="15" name="about card text 3"/>
          <p:cNvSpPr txBox="1"/>
          <p:nvPr/>
        </p:nvSpPr>
        <p:spPr>
          <a:xfrm>
            <a:off x="640080" y="4480560"/>
            <a:ext cx="1965960" cy="960120"/>
          </a:xfrm>
          <a:prstGeom prst="rect">
            <a:avLst/>
          </a:prstGeom>
          <a:noFill/>
          <a:ln/>
        </p:spPr>
        <p:txBody>
          <a:bodyPr wrap="square" lIns="0" tIns="0" rIns="0" bIns="0" rtlCol="0" anchor="ctr"/>
          <a:lstStyle/>
          <a:p>
            <a:pPr algn="r" indent="0" marL="0">
              <a:buNone/>
            </a:pPr>
            <a:r>
              <a:rPr lang="ar-LY" altLang="en-US" sz="1600" b="1" dirty="0">
                <a:solidFill>
                  <a:schemeClr val="accent1"/>
                </a:solidFill>
              </a:rPr>
              <a:t>التأهيل والعلاج</a:t>
            </a:r>
            <a:endParaRPr lang="ar-LY" sz="1600" dirty="0"/>
          </a:p>
          <a:p>
            <a:pPr algn="r" indent="0" marL="0">
              <a:buNone/>
            </a:pPr>
            <a:r>
              <a:rPr lang="ar-LY" altLang="en-US" sz="1200" dirty="0">
                <a:solidFill>
                  <a:schemeClr val="accent5"/>
                </a:solidFill>
              </a:rPr>
              <a:t>تخصص صحي تطبيقي</a:t>
            </a:r>
            <a:endParaRPr lang="ar-LY" sz="16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deco circle"/>
          <p:cNvSpPr/>
          <p:nvPr/>
        </p:nvSpPr>
        <p:spPr>
          <a:xfrm>
            <a:off x="8961120" y="-1828800"/>
            <a:ext cx="5029200" cy="5029200"/>
          </a:xfrm>
          <a:prstGeom prst="ellipse">
            <a:avLst/>
          </a:prstGeom>
          <a:solidFill>
            <a:schemeClr val="accent2">
              <a:alpha val="40000"/>
            </a:schemeClr>
          </a:solidFill>
          <a:ln w="12700">
            <a:solidFill>
              <a:schemeClr val="accent2">
                <a:alpha val="0"/>
              </a:schemeClr>
            </a:solidFill>
            <a:prstDash val="solid"/>
          </a:ln>
        </p:spPr>
      </p:sp>
      <p:sp>
        <p:nvSpPr>
          <p:cNvPr id="3" name="vision circle"/>
          <p:cNvSpPr/>
          <p:nvPr/>
        </p:nvSpPr>
        <p:spPr>
          <a:xfrm>
            <a:off x="9966960" y="822960"/>
            <a:ext cx="1463040" cy="1463040"/>
          </a:xfrm>
          <a:prstGeom prst="ellipse">
            <a:avLst/>
          </a:prstGeom>
          <a:solidFill>
            <a:srgbClr val="FFFFFF"/>
          </a:solidFill>
          <a:ln w="12700">
            <a:solidFill>
              <a:srgbClr val="FFFFFF"/>
            </a:solidFill>
            <a:prstDash val="solid"/>
          </a:ln>
        </p:spPr>
      </p:sp>
      <p:pic>
        <p:nvPicPr>
          <p:cNvPr id="4" name="vision icon" descr="vision">    </p:cNvPr>
          <p:cNvPicPr>
            <a:picLocks noChangeAspect="1"/>
          </p:cNvPicPr>
          <p:nvPr/>
        </p:nvPicPr>
        <p:blipFill>
          <a:blip r:embed="rId1"/>
          <a:stretch>
            <a:fillRect/>
          </a:stretch>
        </p:blipFill>
        <p:spPr>
          <a:xfrm>
            <a:off x="10332720" y="1188720"/>
            <a:ext cx="731520" cy="731520"/>
          </a:xfrm>
          <a:prstGeom prst="rect">
            <a:avLst/>
          </a:prstGeom>
        </p:spPr>
      </p:pic>
      <p:sp>
        <p:nvSpPr>
          <p:cNvPr id="5" name="vision title"/>
          <p:cNvSpPr txBox="1"/>
          <p:nvPr/>
        </p:nvSpPr>
        <p:spPr>
          <a:xfrm>
            <a:off x="731520" y="1005840"/>
            <a:ext cx="8778240" cy="1097280"/>
          </a:xfrm>
          <a:prstGeom prst="rect">
            <a:avLst/>
          </a:prstGeom>
          <a:noFill/>
          <a:ln/>
        </p:spPr>
        <p:txBody>
          <a:bodyPr wrap="square" rtlCol="0" anchor="ctr"/>
          <a:lstStyle/>
          <a:p>
            <a:pPr rtl="1" algn="r" indent="0" marL="0">
              <a:buNone/>
            </a:pPr>
            <a:r>
              <a:rPr lang="ar-LY" altLang="en-US" sz="4400" b="1" dirty="0">
                <a:solidFill>
                  <a:schemeClr val="bg1"/>
                </a:solidFill>
              </a:rPr>
              <a:t>رؤيتنا</a:t>
            </a:r>
            <a:endParaRPr lang="ar-LY" sz="4400" dirty="0"/>
          </a:p>
        </p:txBody>
      </p:sp>
      <p:sp>
        <p:nvSpPr>
          <p:cNvPr id="6" name="vision text"/>
          <p:cNvSpPr txBox="1"/>
          <p:nvPr/>
        </p:nvSpPr>
        <p:spPr>
          <a:xfrm>
            <a:off x="731520" y="2651760"/>
            <a:ext cx="10698480" cy="2377440"/>
          </a:xfrm>
          <a:prstGeom prst="rect">
            <a:avLst/>
          </a:prstGeom>
          <a:noFill/>
          <a:ln/>
        </p:spPr>
        <p:txBody>
          <a:bodyPr wrap="square" rtlCol="0" anchor="t"/>
          <a:lstStyle/>
          <a:p>
            <a:pPr rtl="1" algn="r" indent="0" marL="0">
              <a:lnSpc>
                <a:spcPct val="120000"/>
              </a:lnSpc>
              <a:buNone/>
            </a:pPr>
            <a:r>
              <a:rPr lang="ar-LY" altLang="en-US" sz="2600" i="1" dirty="0">
                <a:solidFill>
                  <a:schemeClr val="bg1"/>
                </a:solidFill>
              </a:rPr>
              <a:t>أن يكون قسم العلاج الطبيعي قسماً رائداً ومتميزاً على المستوى المحلي والإقليمي في التعليم والتدريب والبحث العلمي في مجال العلاج الطبيعي والتأهيل، بما يسهم في الارتقاء بالرعاية الصحية وجودة الحياة في المجتمع.</a:t>
            </a:r>
            <a:endParaRPr lang="ar-LY" sz="2600" dirty="0"/>
          </a:p>
        </p:txBody>
      </p:sp>
      <p:sp>
        <p:nvSpPr>
          <p:cNvPr id="8" name="Text 0"/>
          <p:cNvSpPr/>
          <p:nvPr>
            <p:ph idx="100" type="title" hasCustomPrompt="1"/>
          </p:nvPr>
        </p:nvSpPr>
        <p:spPr>
          <a:xfrm>
            <a:off x="731520" y="2011680"/>
            <a:ext cx="10698480" cy="1280160"/>
          </a:xfrm>
          <a:prstGeom prst="rect">
            <a:avLst/>
          </a:prstGeom>
          <a:noFill/>
          <a:ln/>
        </p:spPr>
        <p:txBody>
          <a:bodyPr wrap="square" rtlCol="0" anchor="ctr"/>
          <a:lstStyle/>
          <a:p>
            <a:pPr algn="r" indent="0" marL="0">
              <a:buNone/>
            </a:pPr>
            <a:endParaRPr lang="en-US" sz="4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rtlCol="0" anchor="ctr"/>
          <a:lstStyle/>
          <a:p>
            <a:pPr rtl="1" algn="r" indent="0" marL="0">
              <a:buNone/>
            </a:pPr>
            <a:r>
              <a:rPr lang="ar-LY" altLang="en-US" sz="3600" b="1" dirty="0">
                <a:solidFill>
                  <a:schemeClr val="accent1"/>
                </a:solidFill>
              </a:rPr>
              <a:t>رسالتنا</a:t>
            </a:r>
            <a:endParaRPr lang="ar-LY" sz="3600" dirty="0"/>
          </a:p>
        </p:txBody>
      </p:sp>
      <p:sp>
        <p:nvSpPr>
          <p:cNvPr id="3" name="mission card"/>
          <p:cNvSpPr/>
          <p:nvPr/>
        </p:nvSpPr>
        <p:spPr>
          <a:xfrm>
            <a:off x="548640" y="1371600"/>
            <a:ext cx="11091672" cy="1737360"/>
          </a:xfrm>
          <a:prstGeom prst="roundRect">
            <a:avLst>
              <a:gd name="adj" fmla="val 7895"/>
            </a:avLst>
          </a:prstGeom>
          <a:solidFill>
            <a:schemeClr val="bg2"/>
          </a:solidFill>
          <a:ln w="12700">
            <a:solidFill>
              <a:schemeClr val="bg2"/>
            </a:solidFill>
            <a:prstDash val="solid"/>
          </a:ln>
        </p:spPr>
      </p:sp>
      <p:sp>
        <p:nvSpPr>
          <p:cNvPr id="4" name="mission circle"/>
          <p:cNvSpPr/>
          <p:nvPr/>
        </p:nvSpPr>
        <p:spPr>
          <a:xfrm>
            <a:off x="10424160" y="1645920"/>
            <a:ext cx="1097280" cy="1097280"/>
          </a:xfrm>
          <a:prstGeom prst="ellipse">
            <a:avLst/>
          </a:prstGeom>
          <a:solidFill>
            <a:srgbClr val="0E5E6F"/>
          </a:solidFill>
          <a:ln w="12700">
            <a:solidFill>
              <a:srgbClr val="0E5E6F"/>
            </a:solidFill>
            <a:prstDash val="solid"/>
          </a:ln>
        </p:spPr>
      </p:sp>
      <p:pic>
        <p:nvPicPr>
          <p:cNvPr id="5" name="mission icon" descr="mission">    </p:cNvPr>
          <p:cNvPicPr>
            <a:picLocks noChangeAspect="1"/>
          </p:cNvPicPr>
          <p:nvPr/>
        </p:nvPicPr>
        <p:blipFill>
          <a:blip r:embed="rId1"/>
          <a:stretch>
            <a:fillRect/>
          </a:stretch>
        </p:blipFill>
        <p:spPr>
          <a:xfrm>
            <a:off x="10698480" y="1920240"/>
            <a:ext cx="548640" cy="548640"/>
          </a:xfrm>
          <a:prstGeom prst="rect">
            <a:avLst/>
          </a:prstGeom>
        </p:spPr>
      </p:pic>
      <p:sp>
        <p:nvSpPr>
          <p:cNvPr id="6" name="mission text"/>
          <p:cNvSpPr txBox="1"/>
          <p:nvPr/>
        </p:nvSpPr>
        <p:spPr>
          <a:xfrm>
            <a:off x="822960" y="1463040"/>
            <a:ext cx="9326880" cy="1554480"/>
          </a:xfrm>
          <a:prstGeom prst="rect">
            <a:avLst/>
          </a:prstGeom>
          <a:noFill/>
          <a:ln/>
        </p:spPr>
        <p:txBody>
          <a:bodyPr wrap="square" rtlCol="0" anchor="ctr"/>
          <a:lstStyle/>
          <a:p>
            <a:pPr rtl="1" algn="r" indent="0" marL="0">
              <a:buNone/>
            </a:pPr>
            <a:r>
              <a:rPr lang="ar-LY" altLang="en-US" sz="1800" dirty="0">
                <a:solidFill>
                  <a:schemeClr val="tx1"/>
                </a:solidFill>
              </a:rPr>
              <a:t>إعداد أخصائيين في العلاج الطبيعي يتمتعون بالكفاءة العلمية والمهارة العملية والالتزام بأخلاقيات المهنة، من خلال برامج تعليمية وتدريبية متطورة وبحث علمي هادف، والمشاركة الفاعلة في خدمة المجتمع وتلبية احتياجاته الصحية.</a:t>
            </a:r>
            <a:endParaRPr lang="ar-LY" sz="1800" dirty="0"/>
          </a:p>
        </p:txBody>
      </p:sp>
      <p:sp>
        <p:nvSpPr>
          <p:cNvPr id="7" name="pillar 1 circle"/>
          <p:cNvSpPr/>
          <p:nvPr/>
        </p:nvSpPr>
        <p:spPr>
          <a:xfrm>
            <a:off x="9902952" y="3520440"/>
            <a:ext cx="914400" cy="914400"/>
          </a:xfrm>
          <a:prstGeom prst="ellipse">
            <a:avLst/>
          </a:prstGeom>
          <a:solidFill>
            <a:srgbClr val="3A9CA8"/>
          </a:solidFill>
          <a:ln w="12700">
            <a:solidFill>
              <a:srgbClr val="3A9CA8"/>
            </a:solidFill>
            <a:prstDash val="solid"/>
          </a:ln>
        </p:spPr>
      </p:sp>
      <p:pic>
        <p:nvPicPr>
          <p:cNvPr id="8" name="pillar 1 icon" descr="pillar 1">    </p:cNvPr>
          <p:cNvPicPr>
            <a:picLocks noChangeAspect="1"/>
          </p:cNvPicPr>
          <p:nvPr/>
        </p:nvPicPr>
        <p:blipFill>
          <a:blip r:embed="rId2"/>
          <a:stretch>
            <a:fillRect/>
          </a:stretch>
        </p:blipFill>
        <p:spPr>
          <a:xfrm>
            <a:off x="10131552" y="3749040"/>
            <a:ext cx="457200" cy="457200"/>
          </a:xfrm>
          <a:prstGeom prst="rect">
            <a:avLst/>
          </a:prstGeom>
        </p:spPr>
      </p:pic>
      <p:sp>
        <p:nvSpPr>
          <p:cNvPr id="9" name="pillar text 1"/>
          <p:cNvSpPr txBox="1"/>
          <p:nvPr/>
        </p:nvSpPr>
        <p:spPr>
          <a:xfrm>
            <a:off x="9079992" y="4572000"/>
            <a:ext cx="2560320" cy="1280160"/>
          </a:xfrm>
          <a:prstGeom prst="rect">
            <a:avLst/>
          </a:prstGeom>
          <a:noFill/>
          <a:ln/>
        </p:spPr>
        <p:txBody>
          <a:bodyPr wrap="square" rtlCol="0" anchor="t"/>
          <a:lstStyle/>
          <a:p>
            <a:pPr algn="ctr" indent="0" marL="0">
              <a:buNone/>
            </a:pPr>
            <a:r>
              <a:rPr lang="ar-LY" altLang="en-US" sz="1800" b="1" dirty="0">
                <a:solidFill>
                  <a:schemeClr val="accent1"/>
                </a:solidFill>
              </a:rPr>
              <a:t>تعليم متميز</a:t>
            </a:r>
            <a:endParaRPr lang="ar-LY" sz="1800" dirty="0"/>
          </a:p>
          <a:p>
            <a:pPr algn="ctr" indent="0" marL="0">
              <a:buNone/>
            </a:pPr>
            <a:r>
              <a:rPr lang="ar-LY" altLang="en-US" sz="1400" dirty="0">
                <a:solidFill>
                  <a:schemeClr val="accent5"/>
                </a:solidFill>
              </a:rPr>
              <a:t>مناهج حديثة تواكب التطور العلمي</a:t>
            </a:r>
            <a:endParaRPr lang="ar-LY" sz="1800" dirty="0"/>
          </a:p>
        </p:txBody>
      </p:sp>
      <p:sp>
        <p:nvSpPr>
          <p:cNvPr id="10" name="pillar 2 circle"/>
          <p:cNvSpPr/>
          <p:nvPr/>
        </p:nvSpPr>
        <p:spPr>
          <a:xfrm>
            <a:off x="7059168" y="3520440"/>
            <a:ext cx="914400" cy="914400"/>
          </a:xfrm>
          <a:prstGeom prst="ellipse">
            <a:avLst/>
          </a:prstGeom>
          <a:solidFill>
            <a:srgbClr val="3A9CA8"/>
          </a:solidFill>
          <a:ln w="12700">
            <a:solidFill>
              <a:srgbClr val="3A9CA8"/>
            </a:solidFill>
            <a:prstDash val="solid"/>
          </a:ln>
        </p:spPr>
      </p:sp>
      <p:pic>
        <p:nvPicPr>
          <p:cNvPr id="11" name="pillar 2 icon" descr="pillar 2">    </p:cNvPr>
          <p:cNvPicPr>
            <a:picLocks noChangeAspect="1"/>
          </p:cNvPicPr>
          <p:nvPr/>
        </p:nvPicPr>
        <p:blipFill>
          <a:blip r:embed="rId3"/>
          <a:stretch>
            <a:fillRect/>
          </a:stretch>
        </p:blipFill>
        <p:spPr>
          <a:xfrm>
            <a:off x="7287768" y="3749040"/>
            <a:ext cx="457200" cy="457200"/>
          </a:xfrm>
          <a:prstGeom prst="rect">
            <a:avLst/>
          </a:prstGeom>
        </p:spPr>
      </p:pic>
      <p:sp>
        <p:nvSpPr>
          <p:cNvPr id="12" name="pillar text 2"/>
          <p:cNvSpPr txBox="1"/>
          <p:nvPr/>
        </p:nvSpPr>
        <p:spPr>
          <a:xfrm>
            <a:off x="6236208" y="4572000"/>
            <a:ext cx="2560320" cy="1280160"/>
          </a:xfrm>
          <a:prstGeom prst="rect">
            <a:avLst/>
          </a:prstGeom>
          <a:noFill/>
          <a:ln/>
        </p:spPr>
        <p:txBody>
          <a:bodyPr wrap="square" rtlCol="0" anchor="t"/>
          <a:lstStyle/>
          <a:p>
            <a:pPr algn="ctr" indent="0" marL="0">
              <a:buNone/>
            </a:pPr>
            <a:r>
              <a:rPr lang="ar-LY" altLang="en-US" sz="1800" b="1" dirty="0">
                <a:solidFill>
                  <a:schemeClr val="accent1"/>
                </a:solidFill>
              </a:rPr>
              <a:t>تدريب سريري</a:t>
            </a:r>
            <a:endParaRPr lang="ar-LY" sz="1800" dirty="0"/>
          </a:p>
          <a:p>
            <a:pPr algn="ctr" indent="0" marL="0">
              <a:buNone/>
            </a:pPr>
            <a:r>
              <a:rPr lang="ar-LY" altLang="en-US" sz="1400" dirty="0">
                <a:solidFill>
                  <a:schemeClr val="accent5"/>
                </a:solidFill>
              </a:rPr>
              <a:t>ممارسة عملية في بيئات صحية حقيقية</a:t>
            </a:r>
            <a:endParaRPr lang="ar-LY" sz="1800" dirty="0"/>
          </a:p>
        </p:txBody>
      </p:sp>
      <p:sp>
        <p:nvSpPr>
          <p:cNvPr id="13" name="pillar 3 circle"/>
          <p:cNvSpPr/>
          <p:nvPr/>
        </p:nvSpPr>
        <p:spPr>
          <a:xfrm>
            <a:off x="4215384" y="3520440"/>
            <a:ext cx="914400" cy="914400"/>
          </a:xfrm>
          <a:prstGeom prst="ellipse">
            <a:avLst/>
          </a:prstGeom>
          <a:solidFill>
            <a:srgbClr val="3A9CA8"/>
          </a:solidFill>
          <a:ln w="12700">
            <a:solidFill>
              <a:srgbClr val="3A9CA8"/>
            </a:solidFill>
            <a:prstDash val="solid"/>
          </a:ln>
        </p:spPr>
      </p:sp>
      <p:pic>
        <p:nvPicPr>
          <p:cNvPr id="14" name="pillar 3 icon" descr="pillar 3">    </p:cNvPr>
          <p:cNvPicPr>
            <a:picLocks noChangeAspect="1"/>
          </p:cNvPicPr>
          <p:nvPr/>
        </p:nvPicPr>
        <p:blipFill>
          <a:blip r:embed="rId4"/>
          <a:stretch>
            <a:fillRect/>
          </a:stretch>
        </p:blipFill>
        <p:spPr>
          <a:xfrm>
            <a:off x="4443984" y="3749040"/>
            <a:ext cx="457200" cy="457200"/>
          </a:xfrm>
          <a:prstGeom prst="rect">
            <a:avLst/>
          </a:prstGeom>
        </p:spPr>
      </p:pic>
      <p:sp>
        <p:nvSpPr>
          <p:cNvPr id="15" name="pillar text 3"/>
          <p:cNvSpPr txBox="1"/>
          <p:nvPr/>
        </p:nvSpPr>
        <p:spPr>
          <a:xfrm>
            <a:off x="3392424" y="4572000"/>
            <a:ext cx="2560320" cy="1280160"/>
          </a:xfrm>
          <a:prstGeom prst="rect">
            <a:avLst/>
          </a:prstGeom>
          <a:noFill/>
          <a:ln/>
        </p:spPr>
        <p:txBody>
          <a:bodyPr wrap="square" rtlCol="0" anchor="t"/>
          <a:lstStyle/>
          <a:p>
            <a:pPr algn="ctr" indent="0" marL="0">
              <a:buNone/>
            </a:pPr>
            <a:r>
              <a:rPr lang="ar-LY" altLang="en-US" sz="1800" b="1" dirty="0">
                <a:solidFill>
                  <a:schemeClr val="accent1"/>
                </a:solidFill>
              </a:rPr>
              <a:t>بحث علمي</a:t>
            </a:r>
            <a:endParaRPr lang="ar-LY" sz="1800" dirty="0"/>
          </a:p>
          <a:p>
            <a:pPr algn="ctr" indent="0" marL="0">
              <a:buNone/>
            </a:pPr>
            <a:r>
              <a:rPr lang="ar-LY" altLang="en-US" sz="1400" dirty="0">
                <a:solidFill>
                  <a:schemeClr val="accent5"/>
                </a:solidFill>
              </a:rPr>
              <a:t>أبحاث تطبيقية تخدم الممارسة</a:t>
            </a:r>
            <a:endParaRPr lang="ar-LY" sz="1800" dirty="0"/>
          </a:p>
        </p:txBody>
      </p:sp>
      <p:sp>
        <p:nvSpPr>
          <p:cNvPr id="16" name="pillar 4 circle"/>
          <p:cNvSpPr/>
          <p:nvPr/>
        </p:nvSpPr>
        <p:spPr>
          <a:xfrm>
            <a:off x="1371600" y="3520440"/>
            <a:ext cx="914400" cy="914400"/>
          </a:xfrm>
          <a:prstGeom prst="ellipse">
            <a:avLst/>
          </a:prstGeom>
          <a:solidFill>
            <a:srgbClr val="3A9CA8"/>
          </a:solidFill>
          <a:ln w="12700">
            <a:solidFill>
              <a:srgbClr val="3A9CA8"/>
            </a:solidFill>
            <a:prstDash val="solid"/>
          </a:ln>
        </p:spPr>
      </p:sp>
      <p:pic>
        <p:nvPicPr>
          <p:cNvPr id="17" name="pillar 4 icon" descr="pillar 4">    </p:cNvPr>
          <p:cNvPicPr>
            <a:picLocks noChangeAspect="1"/>
          </p:cNvPicPr>
          <p:nvPr/>
        </p:nvPicPr>
        <p:blipFill>
          <a:blip r:embed="rId5"/>
          <a:stretch>
            <a:fillRect/>
          </a:stretch>
        </p:blipFill>
        <p:spPr>
          <a:xfrm>
            <a:off x="1600200" y="3749040"/>
            <a:ext cx="457200" cy="457200"/>
          </a:xfrm>
          <a:prstGeom prst="rect">
            <a:avLst/>
          </a:prstGeom>
        </p:spPr>
      </p:pic>
      <p:sp>
        <p:nvSpPr>
          <p:cNvPr id="18" name="pillar text 4"/>
          <p:cNvSpPr txBox="1"/>
          <p:nvPr/>
        </p:nvSpPr>
        <p:spPr>
          <a:xfrm>
            <a:off x="548640" y="4572000"/>
            <a:ext cx="2560320" cy="1280160"/>
          </a:xfrm>
          <a:prstGeom prst="rect">
            <a:avLst/>
          </a:prstGeom>
          <a:noFill/>
          <a:ln/>
        </p:spPr>
        <p:txBody>
          <a:bodyPr wrap="square" rtlCol="0" anchor="t"/>
          <a:lstStyle/>
          <a:p>
            <a:pPr algn="ctr" indent="0" marL="0">
              <a:buNone/>
            </a:pPr>
            <a:r>
              <a:rPr lang="ar-LY" altLang="en-US" sz="1800" b="1" dirty="0">
                <a:solidFill>
                  <a:schemeClr val="accent1"/>
                </a:solidFill>
              </a:rPr>
              <a:t>خدمة المجتمع</a:t>
            </a:r>
            <a:endParaRPr lang="ar-LY" sz="1800" dirty="0"/>
          </a:p>
          <a:p>
            <a:pPr algn="ctr" indent="0" marL="0">
              <a:buNone/>
            </a:pPr>
            <a:r>
              <a:rPr lang="ar-LY" altLang="en-US" sz="1400" dirty="0">
                <a:solidFill>
                  <a:schemeClr val="accent5"/>
                </a:solidFill>
              </a:rPr>
              <a:t>توعية ووقاية وتأهيل</a:t>
            </a:r>
            <a:endParaRPr lang="ar-LY" sz="18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rtlCol="0" anchor="ctr"/>
          <a:lstStyle/>
          <a:p>
            <a:pPr rtl="1" algn="r" indent="0" marL="0">
              <a:buNone/>
            </a:pPr>
            <a:r>
              <a:rPr lang="ar-LY" altLang="en-US" sz="3600" b="1" dirty="0">
                <a:solidFill>
                  <a:schemeClr val="accent1"/>
                </a:solidFill>
              </a:rPr>
              <a:t>أهداف القسم</a:t>
            </a:r>
            <a:endParaRPr lang="ar-LY" sz="3600" dirty="0"/>
          </a:p>
        </p:txBody>
      </p:sp>
      <p:sp>
        <p:nvSpPr>
          <p:cNvPr id="3" name="goal card 1"/>
          <p:cNvSpPr/>
          <p:nvPr/>
        </p:nvSpPr>
        <p:spPr>
          <a:xfrm>
            <a:off x="8119872" y="1325880"/>
            <a:ext cx="3520440" cy="2240280"/>
          </a:xfrm>
          <a:prstGeom prst="roundRect">
            <a:avLst>
              <a:gd name="adj" fmla="val 4898"/>
            </a:avLst>
          </a:prstGeom>
          <a:solidFill>
            <a:schemeClr val="bg2"/>
          </a:solidFill>
          <a:ln w="12700">
            <a:solidFill>
              <a:schemeClr val="bg2"/>
            </a:solidFill>
            <a:prstDash val="solid"/>
          </a:ln>
        </p:spPr>
      </p:sp>
      <p:sp>
        <p:nvSpPr>
          <p:cNvPr id="4" name="goal 1 circle"/>
          <p:cNvSpPr/>
          <p:nvPr/>
        </p:nvSpPr>
        <p:spPr>
          <a:xfrm>
            <a:off x="10771632" y="1508760"/>
            <a:ext cx="685800" cy="685800"/>
          </a:xfrm>
          <a:prstGeom prst="ellipse">
            <a:avLst/>
          </a:prstGeom>
          <a:solidFill>
            <a:srgbClr val="0E5E6F"/>
          </a:solidFill>
          <a:ln w="12700">
            <a:solidFill>
              <a:srgbClr val="0E5E6F"/>
            </a:solidFill>
            <a:prstDash val="solid"/>
          </a:ln>
        </p:spPr>
      </p:sp>
      <p:pic>
        <p:nvPicPr>
          <p:cNvPr id="5" name="goal 1 icon" descr="goal 1">    </p:cNvPr>
          <p:cNvPicPr>
            <a:picLocks noChangeAspect="1"/>
          </p:cNvPicPr>
          <p:nvPr/>
        </p:nvPicPr>
        <p:blipFill>
          <a:blip r:embed="rId1"/>
          <a:stretch>
            <a:fillRect/>
          </a:stretch>
        </p:blipFill>
        <p:spPr>
          <a:xfrm>
            <a:off x="10943082" y="1680210"/>
            <a:ext cx="342900" cy="342900"/>
          </a:xfrm>
          <a:prstGeom prst="rect">
            <a:avLst/>
          </a:prstGeom>
        </p:spPr>
      </p:pic>
      <p:sp>
        <p:nvSpPr>
          <p:cNvPr id="6" name="goal num 1"/>
          <p:cNvSpPr txBox="1"/>
          <p:nvPr/>
        </p:nvSpPr>
        <p:spPr>
          <a:xfrm>
            <a:off x="8302752" y="1508760"/>
            <a:ext cx="822960" cy="548640"/>
          </a:xfrm>
          <a:prstGeom prst="rect">
            <a:avLst/>
          </a:prstGeom>
          <a:noFill/>
          <a:ln/>
        </p:spPr>
        <p:txBody>
          <a:bodyPr wrap="square" lIns="0" tIns="0" rIns="0" bIns="0" rtlCol="0" anchor="ctr"/>
          <a:lstStyle/>
          <a:p>
            <a:pPr indent="0" marL="0">
              <a:buNone/>
            </a:pPr>
            <a:r>
              <a:rPr lang="en-US" sz="2400" b="1" dirty="0">
                <a:solidFill>
                  <a:schemeClr val="accent3"/>
                </a:solidFill>
              </a:rPr>
              <a:t>01</a:t>
            </a:r>
            <a:endParaRPr lang="en-US" sz="2400" dirty="0"/>
          </a:p>
        </p:txBody>
      </p:sp>
      <p:sp>
        <p:nvSpPr>
          <p:cNvPr id="7" name="goal title 1"/>
          <p:cNvSpPr txBox="1"/>
          <p:nvPr/>
        </p:nvSpPr>
        <p:spPr>
          <a:xfrm>
            <a:off x="8302752" y="2240280"/>
            <a:ext cx="3154680" cy="411480"/>
          </a:xfrm>
          <a:prstGeom prst="rect">
            <a:avLst/>
          </a:prstGeom>
          <a:noFill/>
          <a:ln/>
        </p:spPr>
        <p:txBody>
          <a:bodyPr wrap="square" lIns="0" tIns="0" rIns="0" bIns="0" rtlCol="0" anchor="ctr"/>
          <a:lstStyle/>
          <a:p>
            <a:pPr rtl="1" algn="r" indent="0" marL="0">
              <a:buNone/>
            </a:pPr>
            <a:r>
              <a:rPr lang="ar-LY" altLang="en-US" sz="1700" b="1" dirty="0">
                <a:solidFill>
                  <a:schemeClr val="accent1"/>
                </a:solidFill>
              </a:rPr>
              <a:t>إعداد كوادر مؤهلة</a:t>
            </a:r>
            <a:endParaRPr lang="ar-LY" sz="1700" dirty="0"/>
          </a:p>
        </p:txBody>
      </p:sp>
      <p:sp>
        <p:nvSpPr>
          <p:cNvPr id="8" name="goal text 1"/>
          <p:cNvSpPr txBox="1"/>
          <p:nvPr/>
        </p:nvSpPr>
        <p:spPr>
          <a:xfrm>
            <a:off x="8302752" y="2651760"/>
            <a:ext cx="3154680" cy="822960"/>
          </a:xfrm>
          <a:prstGeom prst="rect">
            <a:avLst/>
          </a:prstGeom>
          <a:noFill/>
          <a:ln/>
        </p:spPr>
        <p:txBody>
          <a:bodyPr wrap="square" lIns="0" tIns="0" rIns="0" bIns="0" rtlCol="0" anchor="t"/>
          <a:lstStyle/>
          <a:p>
            <a:pPr rtl="1" algn="r" indent="0" marL="0">
              <a:buNone/>
            </a:pPr>
            <a:r>
              <a:rPr lang="ar-LY" altLang="en-US" sz="1300" dirty="0">
                <a:solidFill>
                  <a:schemeClr val="tx1"/>
                </a:solidFill>
              </a:rPr>
              <a:t>تخريج أخصائيين أكفاء قادرين على تقييم المرضى ووضع الخطط العلاجية وتنفيذها.</a:t>
            </a:r>
            <a:endParaRPr lang="ar-LY" sz="1300" dirty="0"/>
          </a:p>
        </p:txBody>
      </p:sp>
      <p:sp>
        <p:nvSpPr>
          <p:cNvPr id="9" name="goal card 2"/>
          <p:cNvSpPr/>
          <p:nvPr/>
        </p:nvSpPr>
        <p:spPr>
          <a:xfrm>
            <a:off x="4334256" y="1325880"/>
            <a:ext cx="3520440" cy="2240280"/>
          </a:xfrm>
          <a:prstGeom prst="roundRect">
            <a:avLst>
              <a:gd name="adj" fmla="val 4898"/>
            </a:avLst>
          </a:prstGeom>
          <a:solidFill>
            <a:schemeClr val="bg2"/>
          </a:solidFill>
          <a:ln w="12700">
            <a:solidFill>
              <a:schemeClr val="bg2"/>
            </a:solidFill>
            <a:prstDash val="solid"/>
          </a:ln>
        </p:spPr>
      </p:sp>
      <p:sp>
        <p:nvSpPr>
          <p:cNvPr id="10" name="goal 2 circle"/>
          <p:cNvSpPr/>
          <p:nvPr/>
        </p:nvSpPr>
        <p:spPr>
          <a:xfrm>
            <a:off x="6986016" y="1508760"/>
            <a:ext cx="685800" cy="685800"/>
          </a:xfrm>
          <a:prstGeom prst="ellipse">
            <a:avLst/>
          </a:prstGeom>
          <a:solidFill>
            <a:srgbClr val="0E5E6F"/>
          </a:solidFill>
          <a:ln w="12700">
            <a:solidFill>
              <a:srgbClr val="0E5E6F"/>
            </a:solidFill>
            <a:prstDash val="solid"/>
          </a:ln>
        </p:spPr>
      </p:sp>
      <p:pic>
        <p:nvPicPr>
          <p:cNvPr id="11" name="goal 2 icon" descr="goal 2">    </p:cNvPr>
          <p:cNvPicPr>
            <a:picLocks noChangeAspect="1"/>
          </p:cNvPicPr>
          <p:nvPr/>
        </p:nvPicPr>
        <p:blipFill>
          <a:blip r:embed="rId2"/>
          <a:stretch>
            <a:fillRect/>
          </a:stretch>
        </p:blipFill>
        <p:spPr>
          <a:xfrm>
            <a:off x="7157466" y="1680210"/>
            <a:ext cx="342900" cy="342900"/>
          </a:xfrm>
          <a:prstGeom prst="rect">
            <a:avLst/>
          </a:prstGeom>
        </p:spPr>
      </p:pic>
      <p:sp>
        <p:nvSpPr>
          <p:cNvPr id="12" name="goal num 2"/>
          <p:cNvSpPr txBox="1"/>
          <p:nvPr/>
        </p:nvSpPr>
        <p:spPr>
          <a:xfrm>
            <a:off x="4517136" y="1508760"/>
            <a:ext cx="822960" cy="548640"/>
          </a:xfrm>
          <a:prstGeom prst="rect">
            <a:avLst/>
          </a:prstGeom>
          <a:noFill/>
          <a:ln/>
        </p:spPr>
        <p:txBody>
          <a:bodyPr wrap="square" lIns="0" tIns="0" rIns="0" bIns="0" rtlCol="0" anchor="ctr"/>
          <a:lstStyle/>
          <a:p>
            <a:pPr indent="0" marL="0">
              <a:buNone/>
            </a:pPr>
            <a:r>
              <a:rPr lang="en-US" sz="2400" b="1" dirty="0">
                <a:solidFill>
                  <a:schemeClr val="accent3"/>
                </a:solidFill>
              </a:rPr>
              <a:t>02</a:t>
            </a:r>
            <a:endParaRPr lang="en-US" sz="2400" dirty="0"/>
          </a:p>
        </p:txBody>
      </p:sp>
      <p:sp>
        <p:nvSpPr>
          <p:cNvPr id="13" name="goal title 2"/>
          <p:cNvSpPr txBox="1"/>
          <p:nvPr/>
        </p:nvSpPr>
        <p:spPr>
          <a:xfrm>
            <a:off x="4517136" y="2240280"/>
            <a:ext cx="3154680" cy="411480"/>
          </a:xfrm>
          <a:prstGeom prst="rect">
            <a:avLst/>
          </a:prstGeom>
          <a:noFill/>
          <a:ln/>
        </p:spPr>
        <p:txBody>
          <a:bodyPr wrap="square" lIns="0" tIns="0" rIns="0" bIns="0" rtlCol="0" anchor="ctr"/>
          <a:lstStyle/>
          <a:p>
            <a:pPr rtl="1" algn="r" indent="0" marL="0">
              <a:buNone/>
            </a:pPr>
            <a:r>
              <a:rPr lang="ar-LY" altLang="en-US" sz="1700" b="1" dirty="0">
                <a:solidFill>
                  <a:schemeClr val="accent1"/>
                </a:solidFill>
              </a:rPr>
              <a:t>تنمية المهارات السريرية</a:t>
            </a:r>
            <a:endParaRPr lang="ar-LY" sz="1700" dirty="0"/>
          </a:p>
        </p:txBody>
      </p:sp>
      <p:sp>
        <p:nvSpPr>
          <p:cNvPr id="14" name="goal text 2"/>
          <p:cNvSpPr txBox="1"/>
          <p:nvPr/>
        </p:nvSpPr>
        <p:spPr>
          <a:xfrm>
            <a:off x="4517136" y="2651760"/>
            <a:ext cx="3154680" cy="822960"/>
          </a:xfrm>
          <a:prstGeom prst="rect">
            <a:avLst/>
          </a:prstGeom>
          <a:noFill/>
          <a:ln/>
        </p:spPr>
        <p:txBody>
          <a:bodyPr wrap="square" lIns="0" tIns="0" rIns="0" bIns="0" rtlCol="0" anchor="t"/>
          <a:lstStyle/>
          <a:p>
            <a:pPr rtl="1" algn="r" indent="0" marL="0">
              <a:buNone/>
            </a:pPr>
            <a:r>
              <a:rPr lang="ar-LY" altLang="en-US" sz="1300" dirty="0">
                <a:solidFill>
                  <a:schemeClr val="tx1"/>
                </a:solidFill>
              </a:rPr>
              <a:t>تزويد الطلاب بالمهارات العملية عبر التدريب الميداني في المستشفيات ومراكز التأهيل.</a:t>
            </a:r>
            <a:endParaRPr lang="ar-LY" sz="1300" dirty="0"/>
          </a:p>
        </p:txBody>
      </p:sp>
      <p:sp>
        <p:nvSpPr>
          <p:cNvPr id="15" name="goal card 3"/>
          <p:cNvSpPr/>
          <p:nvPr/>
        </p:nvSpPr>
        <p:spPr>
          <a:xfrm>
            <a:off x="548640" y="1325880"/>
            <a:ext cx="3520440" cy="2240280"/>
          </a:xfrm>
          <a:prstGeom prst="roundRect">
            <a:avLst>
              <a:gd name="adj" fmla="val 4898"/>
            </a:avLst>
          </a:prstGeom>
          <a:solidFill>
            <a:schemeClr val="bg2"/>
          </a:solidFill>
          <a:ln w="12700">
            <a:solidFill>
              <a:schemeClr val="bg2"/>
            </a:solidFill>
            <a:prstDash val="solid"/>
          </a:ln>
        </p:spPr>
      </p:sp>
      <p:sp>
        <p:nvSpPr>
          <p:cNvPr id="16" name="goal 3 circle"/>
          <p:cNvSpPr/>
          <p:nvPr/>
        </p:nvSpPr>
        <p:spPr>
          <a:xfrm>
            <a:off x="3200400" y="1508760"/>
            <a:ext cx="685800" cy="685800"/>
          </a:xfrm>
          <a:prstGeom prst="ellipse">
            <a:avLst/>
          </a:prstGeom>
          <a:solidFill>
            <a:srgbClr val="0E5E6F"/>
          </a:solidFill>
          <a:ln w="12700">
            <a:solidFill>
              <a:srgbClr val="0E5E6F"/>
            </a:solidFill>
            <a:prstDash val="solid"/>
          </a:ln>
        </p:spPr>
      </p:sp>
      <p:pic>
        <p:nvPicPr>
          <p:cNvPr id="17" name="goal 3 icon" descr="goal 3">    </p:cNvPr>
          <p:cNvPicPr>
            <a:picLocks noChangeAspect="1"/>
          </p:cNvPicPr>
          <p:nvPr/>
        </p:nvPicPr>
        <p:blipFill>
          <a:blip r:embed="rId3"/>
          <a:stretch>
            <a:fillRect/>
          </a:stretch>
        </p:blipFill>
        <p:spPr>
          <a:xfrm>
            <a:off x="3371850" y="1680210"/>
            <a:ext cx="342900" cy="342900"/>
          </a:xfrm>
          <a:prstGeom prst="rect">
            <a:avLst/>
          </a:prstGeom>
        </p:spPr>
      </p:pic>
      <p:sp>
        <p:nvSpPr>
          <p:cNvPr id="18" name="goal num 3"/>
          <p:cNvSpPr txBox="1"/>
          <p:nvPr/>
        </p:nvSpPr>
        <p:spPr>
          <a:xfrm>
            <a:off x="731520" y="1508760"/>
            <a:ext cx="822960" cy="548640"/>
          </a:xfrm>
          <a:prstGeom prst="rect">
            <a:avLst/>
          </a:prstGeom>
          <a:noFill/>
          <a:ln/>
        </p:spPr>
        <p:txBody>
          <a:bodyPr wrap="square" lIns="0" tIns="0" rIns="0" bIns="0" rtlCol="0" anchor="ctr"/>
          <a:lstStyle/>
          <a:p>
            <a:pPr indent="0" marL="0">
              <a:buNone/>
            </a:pPr>
            <a:r>
              <a:rPr lang="en-US" sz="2400" b="1" dirty="0">
                <a:solidFill>
                  <a:schemeClr val="accent3"/>
                </a:solidFill>
              </a:rPr>
              <a:t>03</a:t>
            </a:r>
            <a:endParaRPr lang="en-US" sz="2400" dirty="0"/>
          </a:p>
        </p:txBody>
      </p:sp>
      <p:sp>
        <p:nvSpPr>
          <p:cNvPr id="19" name="goal title 3"/>
          <p:cNvSpPr txBox="1"/>
          <p:nvPr/>
        </p:nvSpPr>
        <p:spPr>
          <a:xfrm>
            <a:off x="731520" y="2240280"/>
            <a:ext cx="3154680" cy="411480"/>
          </a:xfrm>
          <a:prstGeom prst="rect">
            <a:avLst/>
          </a:prstGeom>
          <a:noFill/>
          <a:ln/>
        </p:spPr>
        <p:txBody>
          <a:bodyPr wrap="square" lIns="0" tIns="0" rIns="0" bIns="0" rtlCol="0" anchor="ctr"/>
          <a:lstStyle/>
          <a:p>
            <a:pPr rtl="1" algn="r" indent="0" marL="0">
              <a:buNone/>
            </a:pPr>
            <a:r>
              <a:rPr lang="ar-LY" altLang="en-US" sz="1700" b="1" dirty="0">
                <a:solidFill>
                  <a:schemeClr val="accent1"/>
                </a:solidFill>
              </a:rPr>
              <a:t>تشجيع البحث العلمي</a:t>
            </a:r>
            <a:endParaRPr lang="ar-LY" sz="1700" dirty="0"/>
          </a:p>
        </p:txBody>
      </p:sp>
      <p:sp>
        <p:nvSpPr>
          <p:cNvPr id="20" name="goal text 3"/>
          <p:cNvSpPr txBox="1"/>
          <p:nvPr/>
        </p:nvSpPr>
        <p:spPr>
          <a:xfrm>
            <a:off x="731520" y="2651760"/>
            <a:ext cx="3154680" cy="822960"/>
          </a:xfrm>
          <a:prstGeom prst="rect">
            <a:avLst/>
          </a:prstGeom>
          <a:noFill/>
          <a:ln/>
        </p:spPr>
        <p:txBody>
          <a:bodyPr wrap="square" lIns="0" tIns="0" rIns="0" bIns="0" rtlCol="0" anchor="t"/>
          <a:lstStyle/>
          <a:p>
            <a:pPr rtl="1" algn="r" indent="0" marL="0">
              <a:buNone/>
            </a:pPr>
            <a:r>
              <a:rPr lang="ar-LY" altLang="en-US" sz="1300" dirty="0">
                <a:solidFill>
                  <a:schemeClr val="tx1"/>
                </a:solidFill>
              </a:rPr>
              <a:t>دعم البحوث في مجالات العلاج الطبيعي وتطبيق الممارسة المبنية على الدليل.</a:t>
            </a:r>
            <a:endParaRPr lang="ar-LY" sz="1300" dirty="0"/>
          </a:p>
        </p:txBody>
      </p:sp>
      <p:sp>
        <p:nvSpPr>
          <p:cNvPr id="21" name="goal card 4"/>
          <p:cNvSpPr/>
          <p:nvPr/>
        </p:nvSpPr>
        <p:spPr>
          <a:xfrm>
            <a:off x="8119872" y="3840480"/>
            <a:ext cx="3520440" cy="2240280"/>
          </a:xfrm>
          <a:prstGeom prst="roundRect">
            <a:avLst>
              <a:gd name="adj" fmla="val 4898"/>
            </a:avLst>
          </a:prstGeom>
          <a:solidFill>
            <a:schemeClr val="bg2"/>
          </a:solidFill>
          <a:ln w="12700">
            <a:solidFill>
              <a:schemeClr val="bg2"/>
            </a:solidFill>
            <a:prstDash val="solid"/>
          </a:ln>
        </p:spPr>
      </p:sp>
      <p:sp>
        <p:nvSpPr>
          <p:cNvPr id="22" name="goal 4 circle"/>
          <p:cNvSpPr/>
          <p:nvPr/>
        </p:nvSpPr>
        <p:spPr>
          <a:xfrm>
            <a:off x="10771632" y="4023360"/>
            <a:ext cx="685800" cy="685800"/>
          </a:xfrm>
          <a:prstGeom prst="ellipse">
            <a:avLst/>
          </a:prstGeom>
          <a:solidFill>
            <a:srgbClr val="0E5E6F"/>
          </a:solidFill>
          <a:ln w="12700">
            <a:solidFill>
              <a:srgbClr val="0E5E6F"/>
            </a:solidFill>
            <a:prstDash val="solid"/>
          </a:ln>
        </p:spPr>
      </p:sp>
      <p:pic>
        <p:nvPicPr>
          <p:cNvPr id="23" name="goal 4 icon" descr="goal 4">    </p:cNvPr>
          <p:cNvPicPr>
            <a:picLocks noChangeAspect="1"/>
          </p:cNvPicPr>
          <p:nvPr/>
        </p:nvPicPr>
        <p:blipFill>
          <a:blip r:embed="rId4"/>
          <a:stretch>
            <a:fillRect/>
          </a:stretch>
        </p:blipFill>
        <p:spPr>
          <a:xfrm>
            <a:off x="10943082" y="4194810"/>
            <a:ext cx="342900" cy="342900"/>
          </a:xfrm>
          <a:prstGeom prst="rect">
            <a:avLst/>
          </a:prstGeom>
        </p:spPr>
      </p:pic>
      <p:sp>
        <p:nvSpPr>
          <p:cNvPr id="24" name="goal num 4"/>
          <p:cNvSpPr txBox="1"/>
          <p:nvPr/>
        </p:nvSpPr>
        <p:spPr>
          <a:xfrm>
            <a:off x="8302752" y="4023360"/>
            <a:ext cx="822960" cy="548640"/>
          </a:xfrm>
          <a:prstGeom prst="rect">
            <a:avLst/>
          </a:prstGeom>
          <a:noFill/>
          <a:ln/>
        </p:spPr>
        <p:txBody>
          <a:bodyPr wrap="square" lIns="0" tIns="0" rIns="0" bIns="0" rtlCol="0" anchor="ctr"/>
          <a:lstStyle/>
          <a:p>
            <a:pPr indent="0" marL="0">
              <a:buNone/>
            </a:pPr>
            <a:r>
              <a:rPr lang="en-US" sz="2400" b="1" dirty="0">
                <a:solidFill>
                  <a:schemeClr val="accent3"/>
                </a:solidFill>
              </a:rPr>
              <a:t>04</a:t>
            </a:r>
            <a:endParaRPr lang="en-US" sz="2400" dirty="0"/>
          </a:p>
        </p:txBody>
      </p:sp>
      <p:sp>
        <p:nvSpPr>
          <p:cNvPr id="25" name="goal title 4"/>
          <p:cNvSpPr txBox="1"/>
          <p:nvPr/>
        </p:nvSpPr>
        <p:spPr>
          <a:xfrm>
            <a:off x="8302752" y="4754880"/>
            <a:ext cx="3154680" cy="411480"/>
          </a:xfrm>
          <a:prstGeom prst="rect">
            <a:avLst/>
          </a:prstGeom>
          <a:noFill/>
          <a:ln/>
        </p:spPr>
        <p:txBody>
          <a:bodyPr wrap="square" lIns="0" tIns="0" rIns="0" bIns="0" rtlCol="0" anchor="ctr"/>
          <a:lstStyle/>
          <a:p>
            <a:pPr rtl="1" algn="r" indent="0" marL="0">
              <a:buNone/>
            </a:pPr>
            <a:r>
              <a:rPr lang="ar-LY" altLang="en-US" sz="1700" b="1" dirty="0">
                <a:solidFill>
                  <a:schemeClr val="accent1"/>
                </a:solidFill>
              </a:rPr>
              <a:t>ترسيخ أخلاقيات المهنة</a:t>
            </a:r>
            <a:endParaRPr lang="ar-LY" sz="1700" dirty="0"/>
          </a:p>
        </p:txBody>
      </p:sp>
      <p:sp>
        <p:nvSpPr>
          <p:cNvPr id="26" name="goal text 4"/>
          <p:cNvSpPr txBox="1"/>
          <p:nvPr/>
        </p:nvSpPr>
        <p:spPr>
          <a:xfrm>
            <a:off x="8302752" y="5166360"/>
            <a:ext cx="3154680" cy="822960"/>
          </a:xfrm>
          <a:prstGeom prst="rect">
            <a:avLst/>
          </a:prstGeom>
          <a:noFill/>
          <a:ln/>
        </p:spPr>
        <p:txBody>
          <a:bodyPr wrap="square" lIns="0" tIns="0" rIns="0" bIns="0" rtlCol="0" anchor="t"/>
          <a:lstStyle/>
          <a:p>
            <a:pPr rtl="1" algn="r" indent="0" marL="0">
              <a:buNone/>
            </a:pPr>
            <a:r>
              <a:rPr lang="ar-LY" altLang="en-US" sz="1300" dirty="0">
                <a:solidFill>
                  <a:schemeClr val="tx1"/>
                </a:solidFill>
              </a:rPr>
              <a:t>غرس قيم الأمانة والمسؤولية واحترام المريض والعمل ضمن الفريق الصحي.</a:t>
            </a:r>
            <a:endParaRPr lang="ar-LY" sz="1300" dirty="0"/>
          </a:p>
        </p:txBody>
      </p:sp>
      <p:sp>
        <p:nvSpPr>
          <p:cNvPr id="27" name="goal card 5"/>
          <p:cNvSpPr/>
          <p:nvPr/>
        </p:nvSpPr>
        <p:spPr>
          <a:xfrm>
            <a:off x="4334256" y="3840480"/>
            <a:ext cx="3520440" cy="2240280"/>
          </a:xfrm>
          <a:prstGeom prst="roundRect">
            <a:avLst>
              <a:gd name="adj" fmla="val 4898"/>
            </a:avLst>
          </a:prstGeom>
          <a:solidFill>
            <a:schemeClr val="bg2"/>
          </a:solidFill>
          <a:ln w="12700">
            <a:solidFill>
              <a:schemeClr val="bg2"/>
            </a:solidFill>
            <a:prstDash val="solid"/>
          </a:ln>
        </p:spPr>
      </p:sp>
      <p:sp>
        <p:nvSpPr>
          <p:cNvPr id="28" name="goal 5 circle"/>
          <p:cNvSpPr/>
          <p:nvPr/>
        </p:nvSpPr>
        <p:spPr>
          <a:xfrm>
            <a:off x="6986016" y="4023360"/>
            <a:ext cx="685800" cy="685800"/>
          </a:xfrm>
          <a:prstGeom prst="ellipse">
            <a:avLst/>
          </a:prstGeom>
          <a:solidFill>
            <a:srgbClr val="0E5E6F"/>
          </a:solidFill>
          <a:ln w="12700">
            <a:solidFill>
              <a:srgbClr val="0E5E6F"/>
            </a:solidFill>
            <a:prstDash val="solid"/>
          </a:ln>
        </p:spPr>
      </p:sp>
      <p:pic>
        <p:nvPicPr>
          <p:cNvPr id="29" name="goal 5 icon" descr="goal 5">    </p:cNvPr>
          <p:cNvPicPr>
            <a:picLocks noChangeAspect="1"/>
          </p:cNvPicPr>
          <p:nvPr/>
        </p:nvPicPr>
        <p:blipFill>
          <a:blip r:embed="rId5"/>
          <a:stretch>
            <a:fillRect/>
          </a:stretch>
        </p:blipFill>
        <p:spPr>
          <a:xfrm>
            <a:off x="7157466" y="4194810"/>
            <a:ext cx="342900" cy="342900"/>
          </a:xfrm>
          <a:prstGeom prst="rect">
            <a:avLst/>
          </a:prstGeom>
        </p:spPr>
      </p:pic>
      <p:sp>
        <p:nvSpPr>
          <p:cNvPr id="30" name="goal num 5"/>
          <p:cNvSpPr txBox="1"/>
          <p:nvPr/>
        </p:nvSpPr>
        <p:spPr>
          <a:xfrm>
            <a:off x="4517136" y="4023360"/>
            <a:ext cx="822960" cy="548640"/>
          </a:xfrm>
          <a:prstGeom prst="rect">
            <a:avLst/>
          </a:prstGeom>
          <a:noFill/>
          <a:ln/>
        </p:spPr>
        <p:txBody>
          <a:bodyPr wrap="square" lIns="0" tIns="0" rIns="0" bIns="0" rtlCol="0" anchor="ctr"/>
          <a:lstStyle/>
          <a:p>
            <a:pPr indent="0" marL="0">
              <a:buNone/>
            </a:pPr>
            <a:r>
              <a:rPr lang="en-US" sz="2400" b="1" dirty="0">
                <a:solidFill>
                  <a:schemeClr val="accent3"/>
                </a:solidFill>
              </a:rPr>
              <a:t>05</a:t>
            </a:r>
            <a:endParaRPr lang="en-US" sz="2400" dirty="0"/>
          </a:p>
        </p:txBody>
      </p:sp>
      <p:sp>
        <p:nvSpPr>
          <p:cNvPr id="31" name="goal title 5"/>
          <p:cNvSpPr txBox="1"/>
          <p:nvPr/>
        </p:nvSpPr>
        <p:spPr>
          <a:xfrm>
            <a:off x="4517136" y="4754880"/>
            <a:ext cx="3154680" cy="411480"/>
          </a:xfrm>
          <a:prstGeom prst="rect">
            <a:avLst/>
          </a:prstGeom>
          <a:noFill/>
          <a:ln/>
        </p:spPr>
        <p:txBody>
          <a:bodyPr wrap="square" lIns="0" tIns="0" rIns="0" bIns="0" rtlCol="0" anchor="ctr"/>
          <a:lstStyle/>
          <a:p>
            <a:pPr rtl="1" algn="r" indent="0" marL="0">
              <a:buNone/>
            </a:pPr>
            <a:r>
              <a:rPr lang="ar-LY" altLang="en-US" sz="1700" b="1" dirty="0">
                <a:solidFill>
                  <a:schemeClr val="accent1"/>
                </a:solidFill>
              </a:rPr>
              <a:t>خدمة المجتمع</a:t>
            </a:r>
            <a:endParaRPr lang="ar-LY" sz="1700" dirty="0"/>
          </a:p>
        </p:txBody>
      </p:sp>
      <p:sp>
        <p:nvSpPr>
          <p:cNvPr id="32" name="goal text 5"/>
          <p:cNvSpPr txBox="1"/>
          <p:nvPr/>
        </p:nvSpPr>
        <p:spPr>
          <a:xfrm>
            <a:off x="4517136" y="5166360"/>
            <a:ext cx="3154680" cy="822960"/>
          </a:xfrm>
          <a:prstGeom prst="rect">
            <a:avLst/>
          </a:prstGeom>
          <a:noFill/>
          <a:ln/>
        </p:spPr>
        <p:txBody>
          <a:bodyPr wrap="square" lIns="0" tIns="0" rIns="0" bIns="0" rtlCol="0" anchor="t"/>
          <a:lstStyle/>
          <a:p>
            <a:pPr rtl="1" algn="r" indent="0" marL="0">
              <a:buNone/>
            </a:pPr>
            <a:r>
              <a:rPr lang="ar-LY" altLang="en-US" sz="1300" dirty="0">
                <a:solidFill>
                  <a:schemeClr val="tx1"/>
                </a:solidFill>
              </a:rPr>
              <a:t>المساهمة في التوعية الصحية والوقاية من الإصابات والإعاقات وتأهيل المصابين.</a:t>
            </a:r>
            <a:endParaRPr lang="ar-LY" sz="1300" dirty="0"/>
          </a:p>
        </p:txBody>
      </p:sp>
      <p:sp>
        <p:nvSpPr>
          <p:cNvPr id="33" name="goal card 6"/>
          <p:cNvSpPr/>
          <p:nvPr/>
        </p:nvSpPr>
        <p:spPr>
          <a:xfrm>
            <a:off x="548640" y="3840480"/>
            <a:ext cx="3520440" cy="2240280"/>
          </a:xfrm>
          <a:prstGeom prst="roundRect">
            <a:avLst>
              <a:gd name="adj" fmla="val 4898"/>
            </a:avLst>
          </a:prstGeom>
          <a:solidFill>
            <a:schemeClr val="bg2"/>
          </a:solidFill>
          <a:ln w="12700">
            <a:solidFill>
              <a:schemeClr val="bg2"/>
            </a:solidFill>
            <a:prstDash val="solid"/>
          </a:ln>
        </p:spPr>
      </p:sp>
      <p:sp>
        <p:nvSpPr>
          <p:cNvPr id="34" name="goal 6 circle"/>
          <p:cNvSpPr/>
          <p:nvPr/>
        </p:nvSpPr>
        <p:spPr>
          <a:xfrm>
            <a:off x="3200400" y="4023360"/>
            <a:ext cx="685800" cy="685800"/>
          </a:xfrm>
          <a:prstGeom prst="ellipse">
            <a:avLst/>
          </a:prstGeom>
          <a:solidFill>
            <a:srgbClr val="0E5E6F"/>
          </a:solidFill>
          <a:ln w="12700">
            <a:solidFill>
              <a:srgbClr val="0E5E6F"/>
            </a:solidFill>
            <a:prstDash val="solid"/>
          </a:ln>
        </p:spPr>
      </p:sp>
      <p:pic>
        <p:nvPicPr>
          <p:cNvPr id="35" name="goal 6 icon" descr="goal 6">    </p:cNvPr>
          <p:cNvPicPr>
            <a:picLocks noChangeAspect="1"/>
          </p:cNvPicPr>
          <p:nvPr/>
        </p:nvPicPr>
        <p:blipFill>
          <a:blip r:embed="rId6"/>
          <a:stretch>
            <a:fillRect/>
          </a:stretch>
        </p:blipFill>
        <p:spPr>
          <a:xfrm>
            <a:off x="3371850" y="4194810"/>
            <a:ext cx="342900" cy="342900"/>
          </a:xfrm>
          <a:prstGeom prst="rect">
            <a:avLst/>
          </a:prstGeom>
        </p:spPr>
      </p:pic>
      <p:sp>
        <p:nvSpPr>
          <p:cNvPr id="36" name="goal num 6"/>
          <p:cNvSpPr txBox="1"/>
          <p:nvPr/>
        </p:nvSpPr>
        <p:spPr>
          <a:xfrm>
            <a:off x="731520" y="4023360"/>
            <a:ext cx="822960" cy="548640"/>
          </a:xfrm>
          <a:prstGeom prst="rect">
            <a:avLst/>
          </a:prstGeom>
          <a:noFill/>
          <a:ln/>
        </p:spPr>
        <p:txBody>
          <a:bodyPr wrap="square" lIns="0" tIns="0" rIns="0" bIns="0" rtlCol="0" anchor="ctr"/>
          <a:lstStyle/>
          <a:p>
            <a:pPr indent="0" marL="0">
              <a:buNone/>
            </a:pPr>
            <a:r>
              <a:rPr lang="en-US" sz="2400" b="1" dirty="0">
                <a:solidFill>
                  <a:schemeClr val="accent3"/>
                </a:solidFill>
              </a:rPr>
              <a:t>06</a:t>
            </a:r>
            <a:endParaRPr lang="en-US" sz="2400" dirty="0"/>
          </a:p>
        </p:txBody>
      </p:sp>
      <p:sp>
        <p:nvSpPr>
          <p:cNvPr id="37" name="goal title 6"/>
          <p:cNvSpPr txBox="1"/>
          <p:nvPr/>
        </p:nvSpPr>
        <p:spPr>
          <a:xfrm>
            <a:off x="731520" y="4754880"/>
            <a:ext cx="3154680" cy="411480"/>
          </a:xfrm>
          <a:prstGeom prst="rect">
            <a:avLst/>
          </a:prstGeom>
          <a:noFill/>
          <a:ln/>
        </p:spPr>
        <p:txBody>
          <a:bodyPr wrap="square" lIns="0" tIns="0" rIns="0" bIns="0" rtlCol="0" anchor="ctr"/>
          <a:lstStyle/>
          <a:p>
            <a:pPr rtl="1" algn="r" indent="0" marL="0">
              <a:buNone/>
            </a:pPr>
            <a:r>
              <a:rPr lang="ar-LY" altLang="en-US" sz="1700" b="1" dirty="0">
                <a:solidFill>
                  <a:schemeClr val="accent1"/>
                </a:solidFill>
              </a:rPr>
              <a:t>التطوير المستمر</a:t>
            </a:r>
            <a:endParaRPr lang="ar-LY" sz="1700" dirty="0"/>
          </a:p>
        </p:txBody>
      </p:sp>
      <p:sp>
        <p:nvSpPr>
          <p:cNvPr id="38" name="goal text 6"/>
          <p:cNvSpPr txBox="1"/>
          <p:nvPr/>
        </p:nvSpPr>
        <p:spPr>
          <a:xfrm>
            <a:off x="731520" y="5166360"/>
            <a:ext cx="3154680" cy="822960"/>
          </a:xfrm>
          <a:prstGeom prst="rect">
            <a:avLst/>
          </a:prstGeom>
          <a:noFill/>
          <a:ln/>
        </p:spPr>
        <p:txBody>
          <a:bodyPr wrap="square" lIns="0" tIns="0" rIns="0" bIns="0" rtlCol="0" anchor="t"/>
          <a:lstStyle/>
          <a:p>
            <a:pPr rtl="1" algn="r" indent="0" marL="0">
              <a:buNone/>
            </a:pPr>
            <a:r>
              <a:rPr lang="ar-LY" altLang="en-US" sz="1300" dirty="0">
                <a:solidFill>
                  <a:schemeClr val="tx1"/>
                </a:solidFill>
              </a:rPr>
              <a:t>تحديث المناهج وتأهيل أعضاء هيئة التدريس ومواكبة المستجدات العالمية.</a:t>
            </a:r>
            <a:endParaRPr lang="ar-LY" sz="13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rtlCol="0" anchor="ctr"/>
          <a:lstStyle/>
          <a:p>
            <a:pPr rtl="1" algn="r" indent="0" marL="0">
              <a:buNone/>
            </a:pPr>
            <a:r>
              <a:rPr lang="ar-LY" altLang="en-US" sz="3600" b="1" dirty="0">
                <a:solidFill>
                  <a:schemeClr val="accent1"/>
                </a:solidFill>
              </a:rPr>
              <a:t>مجالات العلاج الطبيعي التي يغطيها البرنامج</a:t>
            </a:r>
            <a:endParaRPr lang="ar-LY" sz="3600" dirty="0"/>
          </a:p>
        </p:txBody>
      </p:sp>
      <p:sp>
        <p:nvSpPr>
          <p:cNvPr id="3" name="field card 1"/>
          <p:cNvSpPr/>
          <p:nvPr/>
        </p:nvSpPr>
        <p:spPr>
          <a:xfrm>
            <a:off x="6245352" y="1371600"/>
            <a:ext cx="5394960" cy="1325880"/>
          </a:xfrm>
          <a:prstGeom prst="roundRect">
            <a:avLst>
              <a:gd name="adj" fmla="val 8276"/>
            </a:avLst>
          </a:prstGeom>
          <a:solidFill>
            <a:schemeClr val="bg1"/>
          </a:solidFill>
          <a:ln w="15875">
            <a:solidFill>
              <a:schemeClr val="accent4"/>
            </a:solidFill>
            <a:prstDash val="solid"/>
          </a:ln>
        </p:spPr>
      </p:sp>
      <p:sp>
        <p:nvSpPr>
          <p:cNvPr id="4" name="field 1 circle"/>
          <p:cNvSpPr/>
          <p:nvPr/>
        </p:nvSpPr>
        <p:spPr>
          <a:xfrm>
            <a:off x="10497312" y="1554480"/>
            <a:ext cx="960120" cy="960120"/>
          </a:xfrm>
          <a:prstGeom prst="ellipse">
            <a:avLst/>
          </a:prstGeom>
          <a:solidFill>
            <a:srgbClr val="3A9CA8"/>
          </a:solidFill>
          <a:ln w="12700">
            <a:solidFill>
              <a:srgbClr val="3A9CA8"/>
            </a:solidFill>
            <a:prstDash val="solid"/>
          </a:ln>
        </p:spPr>
      </p:sp>
      <p:pic>
        <p:nvPicPr>
          <p:cNvPr id="5" name="field 1 icon" descr="field 1">    </p:cNvPr>
          <p:cNvPicPr>
            <a:picLocks noChangeAspect="1"/>
          </p:cNvPicPr>
          <p:nvPr/>
        </p:nvPicPr>
        <p:blipFill>
          <a:blip r:embed="rId1"/>
          <a:stretch>
            <a:fillRect/>
          </a:stretch>
        </p:blipFill>
        <p:spPr>
          <a:xfrm>
            <a:off x="10737342" y="1794510"/>
            <a:ext cx="480060" cy="480060"/>
          </a:xfrm>
          <a:prstGeom prst="rect">
            <a:avLst/>
          </a:prstGeom>
        </p:spPr>
      </p:pic>
      <p:sp>
        <p:nvSpPr>
          <p:cNvPr id="6" name="field text 1"/>
          <p:cNvSpPr txBox="1"/>
          <p:nvPr/>
        </p:nvSpPr>
        <p:spPr>
          <a:xfrm>
            <a:off x="6473952" y="1508760"/>
            <a:ext cx="3840480" cy="1051560"/>
          </a:xfrm>
          <a:prstGeom prst="rect">
            <a:avLst/>
          </a:prstGeom>
          <a:noFill/>
          <a:ln/>
        </p:spPr>
        <p:txBody>
          <a:bodyPr wrap="square" lIns="0" tIns="0" rIns="0" bIns="0" rtlCol="0" anchor="ctr"/>
          <a:lstStyle/>
          <a:p>
            <a:pPr algn="r" indent="0" marL="0">
              <a:buNone/>
            </a:pPr>
            <a:r>
              <a:rPr lang="ar-LY" altLang="en-US" sz="1800" b="1" dirty="0">
                <a:solidFill>
                  <a:schemeClr val="accent1"/>
                </a:solidFill>
              </a:rPr>
              <a:t>العظام والعضلات</a:t>
            </a:r>
            <a:endParaRPr lang="ar-LY" sz="1800" dirty="0"/>
          </a:p>
          <a:p>
            <a:pPr algn="r" indent="0" marL="0">
              <a:buNone/>
            </a:pPr>
            <a:r>
              <a:rPr lang="ar-LY" altLang="en-US" sz="1400" dirty="0">
                <a:solidFill>
                  <a:schemeClr val="accent5"/>
                </a:solidFill>
              </a:rPr>
              <a:t>الكسور، آلام الظهر والرقبة، خشونة المفاصل</a:t>
            </a:r>
            <a:endParaRPr lang="ar-LY" sz="1800" dirty="0"/>
          </a:p>
        </p:txBody>
      </p:sp>
      <p:sp>
        <p:nvSpPr>
          <p:cNvPr id="7" name="field card 2"/>
          <p:cNvSpPr/>
          <p:nvPr/>
        </p:nvSpPr>
        <p:spPr>
          <a:xfrm>
            <a:off x="548640" y="1371600"/>
            <a:ext cx="5394960" cy="1325880"/>
          </a:xfrm>
          <a:prstGeom prst="roundRect">
            <a:avLst>
              <a:gd name="adj" fmla="val 8276"/>
            </a:avLst>
          </a:prstGeom>
          <a:solidFill>
            <a:schemeClr val="bg1"/>
          </a:solidFill>
          <a:ln w="15875">
            <a:solidFill>
              <a:schemeClr val="accent4"/>
            </a:solidFill>
            <a:prstDash val="solid"/>
          </a:ln>
        </p:spPr>
      </p:sp>
      <p:sp>
        <p:nvSpPr>
          <p:cNvPr id="8" name="field 2 circle"/>
          <p:cNvSpPr/>
          <p:nvPr/>
        </p:nvSpPr>
        <p:spPr>
          <a:xfrm>
            <a:off x="4800600" y="1554480"/>
            <a:ext cx="960120" cy="960120"/>
          </a:xfrm>
          <a:prstGeom prst="ellipse">
            <a:avLst/>
          </a:prstGeom>
          <a:solidFill>
            <a:srgbClr val="3A9CA8"/>
          </a:solidFill>
          <a:ln w="12700">
            <a:solidFill>
              <a:srgbClr val="3A9CA8"/>
            </a:solidFill>
            <a:prstDash val="solid"/>
          </a:ln>
        </p:spPr>
      </p:sp>
      <p:pic>
        <p:nvPicPr>
          <p:cNvPr id="9" name="field 2 icon" descr="field 2">    </p:cNvPr>
          <p:cNvPicPr>
            <a:picLocks noChangeAspect="1"/>
          </p:cNvPicPr>
          <p:nvPr/>
        </p:nvPicPr>
        <p:blipFill>
          <a:blip r:embed="rId2"/>
          <a:stretch>
            <a:fillRect/>
          </a:stretch>
        </p:blipFill>
        <p:spPr>
          <a:xfrm>
            <a:off x="5040630" y="1794510"/>
            <a:ext cx="480060" cy="480060"/>
          </a:xfrm>
          <a:prstGeom prst="rect">
            <a:avLst/>
          </a:prstGeom>
        </p:spPr>
      </p:pic>
      <p:sp>
        <p:nvSpPr>
          <p:cNvPr id="10" name="field text 2"/>
          <p:cNvSpPr txBox="1"/>
          <p:nvPr/>
        </p:nvSpPr>
        <p:spPr>
          <a:xfrm>
            <a:off x="777240" y="1508760"/>
            <a:ext cx="3840480" cy="1051560"/>
          </a:xfrm>
          <a:prstGeom prst="rect">
            <a:avLst/>
          </a:prstGeom>
          <a:noFill/>
          <a:ln/>
        </p:spPr>
        <p:txBody>
          <a:bodyPr wrap="square" lIns="0" tIns="0" rIns="0" bIns="0" rtlCol="0" anchor="ctr"/>
          <a:lstStyle/>
          <a:p>
            <a:pPr algn="r" indent="0" marL="0">
              <a:buNone/>
            </a:pPr>
            <a:r>
              <a:rPr lang="ar-LY" altLang="en-US" sz="1800" b="1" dirty="0">
                <a:solidFill>
                  <a:schemeClr val="accent1"/>
                </a:solidFill>
              </a:rPr>
              <a:t>الأعصاب</a:t>
            </a:r>
            <a:endParaRPr lang="ar-LY" sz="1800" dirty="0"/>
          </a:p>
          <a:p>
            <a:pPr algn="r" indent="0" marL="0">
              <a:buNone/>
            </a:pPr>
            <a:r>
              <a:rPr lang="ar-LY" altLang="en-US" sz="1400" dirty="0">
                <a:solidFill>
                  <a:schemeClr val="accent5"/>
                </a:solidFill>
              </a:rPr>
              <a:t>الجلطات الدماغية، إصابات الحبل الشوكي</a:t>
            </a:r>
            <a:endParaRPr lang="ar-LY" sz="1800" dirty="0"/>
          </a:p>
        </p:txBody>
      </p:sp>
      <p:sp>
        <p:nvSpPr>
          <p:cNvPr id="11" name="field card 3"/>
          <p:cNvSpPr/>
          <p:nvPr/>
        </p:nvSpPr>
        <p:spPr>
          <a:xfrm>
            <a:off x="6245352" y="2971800"/>
            <a:ext cx="5394960" cy="1325880"/>
          </a:xfrm>
          <a:prstGeom prst="roundRect">
            <a:avLst>
              <a:gd name="adj" fmla="val 8276"/>
            </a:avLst>
          </a:prstGeom>
          <a:solidFill>
            <a:schemeClr val="bg1"/>
          </a:solidFill>
          <a:ln w="15875">
            <a:solidFill>
              <a:schemeClr val="accent4"/>
            </a:solidFill>
            <a:prstDash val="solid"/>
          </a:ln>
        </p:spPr>
      </p:sp>
      <p:sp>
        <p:nvSpPr>
          <p:cNvPr id="12" name="field 3 circle"/>
          <p:cNvSpPr/>
          <p:nvPr/>
        </p:nvSpPr>
        <p:spPr>
          <a:xfrm>
            <a:off x="10497312" y="3154680"/>
            <a:ext cx="960120" cy="960120"/>
          </a:xfrm>
          <a:prstGeom prst="ellipse">
            <a:avLst/>
          </a:prstGeom>
          <a:solidFill>
            <a:srgbClr val="3A9CA8"/>
          </a:solidFill>
          <a:ln w="12700">
            <a:solidFill>
              <a:srgbClr val="3A9CA8"/>
            </a:solidFill>
            <a:prstDash val="solid"/>
          </a:ln>
        </p:spPr>
      </p:sp>
      <p:pic>
        <p:nvPicPr>
          <p:cNvPr id="13" name="field 3 icon" descr="field 3">    </p:cNvPr>
          <p:cNvPicPr>
            <a:picLocks noChangeAspect="1"/>
          </p:cNvPicPr>
          <p:nvPr/>
        </p:nvPicPr>
        <p:blipFill>
          <a:blip r:embed="rId3"/>
          <a:stretch>
            <a:fillRect/>
          </a:stretch>
        </p:blipFill>
        <p:spPr>
          <a:xfrm>
            <a:off x="10737342" y="3394710"/>
            <a:ext cx="480060" cy="480060"/>
          </a:xfrm>
          <a:prstGeom prst="rect">
            <a:avLst/>
          </a:prstGeom>
        </p:spPr>
      </p:pic>
      <p:sp>
        <p:nvSpPr>
          <p:cNvPr id="14" name="field text 3"/>
          <p:cNvSpPr txBox="1"/>
          <p:nvPr/>
        </p:nvSpPr>
        <p:spPr>
          <a:xfrm>
            <a:off x="6473952" y="3108960"/>
            <a:ext cx="3840480" cy="1051560"/>
          </a:xfrm>
          <a:prstGeom prst="rect">
            <a:avLst/>
          </a:prstGeom>
          <a:noFill/>
          <a:ln/>
        </p:spPr>
        <p:txBody>
          <a:bodyPr wrap="square" lIns="0" tIns="0" rIns="0" bIns="0" rtlCol="0" anchor="ctr"/>
          <a:lstStyle/>
          <a:p>
            <a:pPr algn="r" indent="0" marL="0">
              <a:buNone/>
            </a:pPr>
            <a:r>
              <a:rPr lang="ar-LY" altLang="en-US" sz="1800" b="1" dirty="0">
                <a:solidFill>
                  <a:schemeClr val="accent1"/>
                </a:solidFill>
              </a:rPr>
              <a:t>القلب والجهاز التنفسي</a:t>
            </a:r>
            <a:endParaRPr lang="ar-LY" sz="1800" dirty="0"/>
          </a:p>
          <a:p>
            <a:pPr algn="r" indent="0" marL="0">
              <a:buNone/>
            </a:pPr>
            <a:r>
              <a:rPr lang="ar-LY" altLang="en-US" sz="1400" dirty="0">
                <a:solidFill>
                  <a:schemeClr val="accent5"/>
                </a:solidFill>
              </a:rPr>
              <a:t>التأهيل القلبي والرئوي</a:t>
            </a:r>
            <a:endParaRPr lang="ar-LY" sz="1800" dirty="0"/>
          </a:p>
        </p:txBody>
      </p:sp>
      <p:sp>
        <p:nvSpPr>
          <p:cNvPr id="15" name="field card 4"/>
          <p:cNvSpPr/>
          <p:nvPr/>
        </p:nvSpPr>
        <p:spPr>
          <a:xfrm>
            <a:off x="548640" y="2971800"/>
            <a:ext cx="5394960" cy="1325880"/>
          </a:xfrm>
          <a:prstGeom prst="roundRect">
            <a:avLst>
              <a:gd name="adj" fmla="val 8276"/>
            </a:avLst>
          </a:prstGeom>
          <a:solidFill>
            <a:schemeClr val="bg1"/>
          </a:solidFill>
          <a:ln w="15875">
            <a:solidFill>
              <a:schemeClr val="accent4"/>
            </a:solidFill>
            <a:prstDash val="solid"/>
          </a:ln>
        </p:spPr>
      </p:sp>
      <p:sp>
        <p:nvSpPr>
          <p:cNvPr id="16" name="field 4 circle"/>
          <p:cNvSpPr/>
          <p:nvPr/>
        </p:nvSpPr>
        <p:spPr>
          <a:xfrm>
            <a:off x="4800600" y="3154680"/>
            <a:ext cx="960120" cy="960120"/>
          </a:xfrm>
          <a:prstGeom prst="ellipse">
            <a:avLst/>
          </a:prstGeom>
          <a:solidFill>
            <a:srgbClr val="3A9CA8"/>
          </a:solidFill>
          <a:ln w="12700">
            <a:solidFill>
              <a:srgbClr val="3A9CA8"/>
            </a:solidFill>
            <a:prstDash val="solid"/>
          </a:ln>
        </p:spPr>
      </p:sp>
      <p:pic>
        <p:nvPicPr>
          <p:cNvPr id="17" name="field 4 icon" descr="field 4">    </p:cNvPr>
          <p:cNvPicPr>
            <a:picLocks noChangeAspect="1"/>
          </p:cNvPicPr>
          <p:nvPr/>
        </p:nvPicPr>
        <p:blipFill>
          <a:blip r:embed="rId4"/>
          <a:stretch>
            <a:fillRect/>
          </a:stretch>
        </p:blipFill>
        <p:spPr>
          <a:xfrm>
            <a:off x="5040630" y="3394710"/>
            <a:ext cx="480060" cy="480060"/>
          </a:xfrm>
          <a:prstGeom prst="rect">
            <a:avLst/>
          </a:prstGeom>
        </p:spPr>
      </p:pic>
      <p:sp>
        <p:nvSpPr>
          <p:cNvPr id="18" name="field text 4"/>
          <p:cNvSpPr txBox="1"/>
          <p:nvPr/>
        </p:nvSpPr>
        <p:spPr>
          <a:xfrm>
            <a:off x="777240" y="3108960"/>
            <a:ext cx="3840480" cy="1051560"/>
          </a:xfrm>
          <a:prstGeom prst="rect">
            <a:avLst/>
          </a:prstGeom>
          <a:noFill/>
          <a:ln/>
        </p:spPr>
        <p:txBody>
          <a:bodyPr wrap="square" lIns="0" tIns="0" rIns="0" bIns="0" rtlCol="0" anchor="ctr"/>
          <a:lstStyle/>
          <a:p>
            <a:pPr algn="r" indent="0" marL="0">
              <a:buNone/>
            </a:pPr>
            <a:r>
              <a:rPr lang="ar-LY" altLang="en-US" sz="1800" b="1" dirty="0">
                <a:solidFill>
                  <a:schemeClr val="accent1"/>
                </a:solidFill>
              </a:rPr>
              <a:t>الأطفال</a:t>
            </a:r>
            <a:endParaRPr lang="ar-LY" sz="1800" dirty="0"/>
          </a:p>
          <a:p>
            <a:pPr algn="r" indent="0" marL="0">
              <a:buNone/>
            </a:pPr>
            <a:r>
              <a:rPr lang="ar-LY" altLang="en-US" sz="1400" dirty="0">
                <a:solidFill>
                  <a:schemeClr val="accent5"/>
                </a:solidFill>
              </a:rPr>
              <a:t>الشلل الدماغي وتأخر النمو الحركي</a:t>
            </a:r>
            <a:endParaRPr lang="ar-LY" sz="1800" dirty="0"/>
          </a:p>
        </p:txBody>
      </p:sp>
      <p:sp>
        <p:nvSpPr>
          <p:cNvPr id="19" name="field card 5"/>
          <p:cNvSpPr/>
          <p:nvPr/>
        </p:nvSpPr>
        <p:spPr>
          <a:xfrm>
            <a:off x="6245352" y="4572000"/>
            <a:ext cx="5394960" cy="1325880"/>
          </a:xfrm>
          <a:prstGeom prst="roundRect">
            <a:avLst>
              <a:gd name="adj" fmla="val 8276"/>
            </a:avLst>
          </a:prstGeom>
          <a:solidFill>
            <a:schemeClr val="bg1"/>
          </a:solidFill>
          <a:ln w="15875">
            <a:solidFill>
              <a:schemeClr val="accent4"/>
            </a:solidFill>
            <a:prstDash val="solid"/>
          </a:ln>
        </p:spPr>
      </p:sp>
      <p:sp>
        <p:nvSpPr>
          <p:cNvPr id="20" name="field 5 circle"/>
          <p:cNvSpPr/>
          <p:nvPr/>
        </p:nvSpPr>
        <p:spPr>
          <a:xfrm>
            <a:off x="10497312" y="4754880"/>
            <a:ext cx="960120" cy="960120"/>
          </a:xfrm>
          <a:prstGeom prst="ellipse">
            <a:avLst/>
          </a:prstGeom>
          <a:solidFill>
            <a:srgbClr val="3A9CA8"/>
          </a:solidFill>
          <a:ln w="12700">
            <a:solidFill>
              <a:srgbClr val="3A9CA8"/>
            </a:solidFill>
            <a:prstDash val="solid"/>
          </a:ln>
        </p:spPr>
      </p:sp>
      <p:pic>
        <p:nvPicPr>
          <p:cNvPr id="21" name="field 5 icon" descr="field 5">    </p:cNvPr>
          <p:cNvPicPr>
            <a:picLocks noChangeAspect="1"/>
          </p:cNvPicPr>
          <p:nvPr/>
        </p:nvPicPr>
        <p:blipFill>
          <a:blip r:embed="rId5"/>
          <a:stretch>
            <a:fillRect/>
          </a:stretch>
        </p:blipFill>
        <p:spPr>
          <a:xfrm>
            <a:off x="10737342" y="4994910"/>
            <a:ext cx="480060" cy="480060"/>
          </a:xfrm>
          <a:prstGeom prst="rect">
            <a:avLst/>
          </a:prstGeom>
        </p:spPr>
      </p:pic>
      <p:sp>
        <p:nvSpPr>
          <p:cNvPr id="22" name="field text 5"/>
          <p:cNvSpPr txBox="1"/>
          <p:nvPr/>
        </p:nvSpPr>
        <p:spPr>
          <a:xfrm>
            <a:off x="6473952" y="4709160"/>
            <a:ext cx="3840480" cy="1051560"/>
          </a:xfrm>
          <a:prstGeom prst="rect">
            <a:avLst/>
          </a:prstGeom>
          <a:noFill/>
          <a:ln/>
        </p:spPr>
        <p:txBody>
          <a:bodyPr wrap="square" lIns="0" tIns="0" rIns="0" bIns="0" rtlCol="0" anchor="ctr"/>
          <a:lstStyle/>
          <a:p>
            <a:pPr algn="r" indent="0" marL="0">
              <a:buNone/>
            </a:pPr>
            <a:r>
              <a:rPr lang="ar-LY" altLang="en-US" sz="1800" b="1" dirty="0">
                <a:solidFill>
                  <a:schemeClr val="accent1"/>
                </a:solidFill>
              </a:rPr>
              <a:t>الإصابات الرياضية</a:t>
            </a:r>
            <a:endParaRPr lang="ar-LY" sz="1800" dirty="0"/>
          </a:p>
          <a:p>
            <a:pPr algn="r" indent="0" marL="0">
              <a:buNone/>
            </a:pPr>
            <a:r>
              <a:rPr lang="ar-LY" altLang="en-US" sz="1400" dirty="0">
                <a:solidFill>
                  <a:schemeClr val="accent5"/>
                </a:solidFill>
              </a:rPr>
              <a:t>الوقاية والتأهيل والعودة للنشاط</a:t>
            </a:r>
            <a:endParaRPr lang="ar-LY" sz="1800" dirty="0"/>
          </a:p>
        </p:txBody>
      </p:sp>
      <p:sp>
        <p:nvSpPr>
          <p:cNvPr id="23" name="field card 6"/>
          <p:cNvSpPr/>
          <p:nvPr/>
        </p:nvSpPr>
        <p:spPr>
          <a:xfrm>
            <a:off x="548640" y="4572000"/>
            <a:ext cx="5394960" cy="1325880"/>
          </a:xfrm>
          <a:prstGeom prst="roundRect">
            <a:avLst>
              <a:gd name="adj" fmla="val 8276"/>
            </a:avLst>
          </a:prstGeom>
          <a:solidFill>
            <a:schemeClr val="bg1"/>
          </a:solidFill>
          <a:ln w="15875">
            <a:solidFill>
              <a:schemeClr val="accent4"/>
            </a:solidFill>
            <a:prstDash val="solid"/>
          </a:ln>
        </p:spPr>
      </p:sp>
      <p:sp>
        <p:nvSpPr>
          <p:cNvPr id="24" name="field 6 circle"/>
          <p:cNvSpPr/>
          <p:nvPr/>
        </p:nvSpPr>
        <p:spPr>
          <a:xfrm>
            <a:off x="4800600" y="4754880"/>
            <a:ext cx="960120" cy="960120"/>
          </a:xfrm>
          <a:prstGeom prst="ellipse">
            <a:avLst/>
          </a:prstGeom>
          <a:solidFill>
            <a:srgbClr val="3A9CA8"/>
          </a:solidFill>
          <a:ln w="12700">
            <a:solidFill>
              <a:srgbClr val="3A9CA8"/>
            </a:solidFill>
            <a:prstDash val="solid"/>
          </a:ln>
        </p:spPr>
      </p:sp>
      <p:pic>
        <p:nvPicPr>
          <p:cNvPr id="25" name="field 6 icon" descr="field 6">    </p:cNvPr>
          <p:cNvPicPr>
            <a:picLocks noChangeAspect="1"/>
          </p:cNvPicPr>
          <p:nvPr/>
        </p:nvPicPr>
        <p:blipFill>
          <a:blip r:embed="rId6"/>
          <a:stretch>
            <a:fillRect/>
          </a:stretch>
        </p:blipFill>
        <p:spPr>
          <a:xfrm>
            <a:off x="5040630" y="4994910"/>
            <a:ext cx="480060" cy="480060"/>
          </a:xfrm>
          <a:prstGeom prst="rect">
            <a:avLst/>
          </a:prstGeom>
        </p:spPr>
      </p:pic>
      <p:sp>
        <p:nvSpPr>
          <p:cNvPr id="26" name="field text 6"/>
          <p:cNvSpPr txBox="1"/>
          <p:nvPr/>
        </p:nvSpPr>
        <p:spPr>
          <a:xfrm>
            <a:off x="777240" y="4709160"/>
            <a:ext cx="3840480" cy="1051560"/>
          </a:xfrm>
          <a:prstGeom prst="rect">
            <a:avLst/>
          </a:prstGeom>
          <a:noFill/>
          <a:ln/>
        </p:spPr>
        <p:txBody>
          <a:bodyPr wrap="square" lIns="0" tIns="0" rIns="0" bIns="0" rtlCol="0" anchor="ctr"/>
          <a:lstStyle/>
          <a:p>
            <a:pPr algn="r" indent="0" marL="0">
              <a:buNone/>
            </a:pPr>
            <a:r>
              <a:rPr lang="ar-LY" altLang="en-US" sz="1800" b="1" dirty="0">
                <a:solidFill>
                  <a:schemeClr val="accent1"/>
                </a:solidFill>
              </a:rPr>
              <a:t>كبار السن والتأهيل</a:t>
            </a:r>
            <a:endParaRPr lang="ar-LY" sz="1800" dirty="0"/>
          </a:p>
          <a:p>
            <a:pPr algn="r" indent="0" marL="0">
              <a:buNone/>
            </a:pPr>
            <a:r>
              <a:rPr lang="ar-LY" altLang="en-US" sz="1400" dirty="0">
                <a:solidFill>
                  <a:schemeClr val="accent5"/>
                </a:solidFill>
              </a:rPr>
              <a:t>الحفاظ على الحركة والاستقلالية</a:t>
            </a:r>
            <a:endParaRPr lang="ar-LY" sz="18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rtlCol="0" anchor="ctr"/>
          <a:lstStyle/>
          <a:p>
            <a:pPr rtl="1" algn="r" indent="0" marL="0">
              <a:buNone/>
            </a:pPr>
            <a:r>
              <a:rPr lang="ar-LY" altLang="en-US" sz="3600" b="1" dirty="0">
                <a:solidFill>
                  <a:schemeClr val="accent1"/>
                </a:solidFill>
              </a:rPr>
              <a:t>المسيرة التعليمية للطالب</a:t>
            </a:r>
            <a:endParaRPr lang="ar-LY" sz="3600" dirty="0"/>
          </a:p>
        </p:txBody>
      </p:sp>
      <p:sp>
        <p:nvSpPr>
          <p:cNvPr id="3" name="timeline line"/>
          <p:cNvSpPr/>
          <p:nvPr/>
        </p:nvSpPr>
        <p:spPr>
          <a:xfrm>
            <a:off x="1737360" y="2331720"/>
            <a:ext cx="8686800" cy="0"/>
          </a:xfrm>
          <a:prstGeom prst="line">
            <a:avLst/>
          </a:prstGeom>
          <a:noFill/>
          <a:ln w="38100">
            <a:solidFill>
              <a:schemeClr val="accent4"/>
            </a:solidFill>
            <a:prstDash val="dash"/>
          </a:ln>
        </p:spPr>
      </p:sp>
      <p:sp>
        <p:nvSpPr>
          <p:cNvPr id="4" name="step 1 circle"/>
          <p:cNvSpPr/>
          <p:nvPr/>
        </p:nvSpPr>
        <p:spPr>
          <a:xfrm>
            <a:off x="9788652" y="1737360"/>
            <a:ext cx="1188720" cy="1188720"/>
          </a:xfrm>
          <a:prstGeom prst="ellipse">
            <a:avLst/>
          </a:prstGeom>
          <a:solidFill>
            <a:srgbClr val="0E5E6F"/>
          </a:solidFill>
          <a:ln w="12700">
            <a:solidFill>
              <a:srgbClr val="0E5E6F"/>
            </a:solidFill>
            <a:prstDash val="solid"/>
          </a:ln>
        </p:spPr>
      </p:sp>
      <p:pic>
        <p:nvPicPr>
          <p:cNvPr id="5" name="step 1 icon" descr="step 1">    </p:cNvPr>
          <p:cNvPicPr>
            <a:picLocks noChangeAspect="1"/>
          </p:cNvPicPr>
          <p:nvPr/>
        </p:nvPicPr>
        <p:blipFill>
          <a:blip r:embed="rId1"/>
          <a:stretch>
            <a:fillRect/>
          </a:stretch>
        </p:blipFill>
        <p:spPr>
          <a:xfrm>
            <a:off x="10085832" y="2034540"/>
            <a:ext cx="594360" cy="594360"/>
          </a:xfrm>
          <a:prstGeom prst="rect">
            <a:avLst/>
          </a:prstGeom>
        </p:spPr>
      </p:pic>
      <p:sp>
        <p:nvSpPr>
          <p:cNvPr id="6" name="step label 1"/>
          <p:cNvSpPr txBox="1"/>
          <p:nvPr/>
        </p:nvSpPr>
        <p:spPr>
          <a:xfrm>
            <a:off x="9125712" y="3154680"/>
            <a:ext cx="2514600" cy="365760"/>
          </a:xfrm>
          <a:prstGeom prst="rect">
            <a:avLst/>
          </a:prstGeom>
          <a:noFill/>
          <a:ln/>
        </p:spPr>
        <p:txBody>
          <a:bodyPr wrap="square" rtlCol="0" anchor="ctr"/>
          <a:lstStyle/>
          <a:p>
            <a:pPr rtl="1" algn="ctr" indent="0" marL="0">
              <a:buNone/>
            </a:pPr>
            <a:r>
              <a:rPr lang="ar-LY" altLang="en-US" sz="1400" b="1" dirty="0">
                <a:solidFill>
                  <a:schemeClr val="accent3"/>
                </a:solidFill>
              </a:rPr>
              <a:t>المرحلة 1</a:t>
            </a:r>
            <a:endParaRPr lang="ar-LY" sz="1400" dirty="0"/>
          </a:p>
        </p:txBody>
      </p:sp>
      <p:sp>
        <p:nvSpPr>
          <p:cNvPr id="7" name="step text 1"/>
          <p:cNvSpPr txBox="1"/>
          <p:nvPr/>
        </p:nvSpPr>
        <p:spPr>
          <a:xfrm>
            <a:off x="9125712" y="3566160"/>
            <a:ext cx="2514600" cy="1554480"/>
          </a:xfrm>
          <a:prstGeom prst="rect">
            <a:avLst/>
          </a:prstGeom>
          <a:noFill/>
          <a:ln/>
        </p:spPr>
        <p:txBody>
          <a:bodyPr wrap="square" rtlCol="0" anchor="t"/>
          <a:lstStyle/>
          <a:p>
            <a:pPr algn="ctr" indent="0" marL="0">
              <a:spcAft>
                <a:spcPts val="600"/>
              </a:spcAft>
              <a:buNone/>
            </a:pPr>
            <a:r>
              <a:rPr lang="ar-LY" altLang="en-US" sz="2000" b="1" dirty="0">
                <a:solidFill>
                  <a:schemeClr val="accent1"/>
                </a:solidFill>
              </a:rPr>
              <a:t>العلوم الأساسية</a:t>
            </a:r>
            <a:endParaRPr lang="ar-LY" sz="2000" dirty="0"/>
          </a:p>
          <a:p>
            <a:pPr algn="ctr" indent="0" marL="0">
              <a:spcAft>
                <a:spcPts val="600"/>
              </a:spcAft>
              <a:buNone/>
            </a:pPr>
            <a:r>
              <a:rPr lang="ar-LY" altLang="en-US" sz="1400" dirty="0">
                <a:solidFill>
                  <a:schemeClr val="tx1"/>
                </a:solidFill>
              </a:rPr>
              <a:t>التشريح، وظائف الأعضاء، الفيزياء الحيوية</a:t>
            </a:r>
            <a:endParaRPr lang="ar-LY" sz="2000" dirty="0"/>
          </a:p>
        </p:txBody>
      </p:sp>
      <p:sp>
        <p:nvSpPr>
          <p:cNvPr id="8" name="step 2 circle"/>
          <p:cNvSpPr/>
          <p:nvPr/>
        </p:nvSpPr>
        <p:spPr>
          <a:xfrm>
            <a:off x="6926580" y="1737360"/>
            <a:ext cx="1188720" cy="1188720"/>
          </a:xfrm>
          <a:prstGeom prst="ellipse">
            <a:avLst/>
          </a:prstGeom>
          <a:solidFill>
            <a:srgbClr val="0E5E6F"/>
          </a:solidFill>
          <a:ln w="12700">
            <a:solidFill>
              <a:srgbClr val="0E5E6F"/>
            </a:solidFill>
            <a:prstDash val="solid"/>
          </a:ln>
        </p:spPr>
      </p:sp>
      <p:pic>
        <p:nvPicPr>
          <p:cNvPr id="9" name="step 2 icon" descr="step 2">    </p:cNvPr>
          <p:cNvPicPr>
            <a:picLocks noChangeAspect="1"/>
          </p:cNvPicPr>
          <p:nvPr/>
        </p:nvPicPr>
        <p:blipFill>
          <a:blip r:embed="rId2"/>
          <a:stretch>
            <a:fillRect/>
          </a:stretch>
        </p:blipFill>
        <p:spPr>
          <a:xfrm>
            <a:off x="7223760" y="2034540"/>
            <a:ext cx="594360" cy="594360"/>
          </a:xfrm>
          <a:prstGeom prst="rect">
            <a:avLst/>
          </a:prstGeom>
        </p:spPr>
      </p:pic>
      <p:sp>
        <p:nvSpPr>
          <p:cNvPr id="10" name="step label 2"/>
          <p:cNvSpPr txBox="1"/>
          <p:nvPr/>
        </p:nvSpPr>
        <p:spPr>
          <a:xfrm>
            <a:off x="6263640" y="3154680"/>
            <a:ext cx="2514600" cy="365760"/>
          </a:xfrm>
          <a:prstGeom prst="rect">
            <a:avLst/>
          </a:prstGeom>
          <a:noFill/>
          <a:ln/>
        </p:spPr>
        <p:txBody>
          <a:bodyPr wrap="square" rtlCol="0" anchor="ctr"/>
          <a:lstStyle/>
          <a:p>
            <a:pPr rtl="1" algn="ctr" indent="0" marL="0">
              <a:buNone/>
            </a:pPr>
            <a:r>
              <a:rPr lang="ar-LY" altLang="en-US" sz="1400" b="1" dirty="0">
                <a:solidFill>
                  <a:schemeClr val="accent3"/>
                </a:solidFill>
              </a:rPr>
              <a:t>المرحلة 2</a:t>
            </a:r>
            <a:endParaRPr lang="ar-LY" sz="1400" dirty="0"/>
          </a:p>
        </p:txBody>
      </p:sp>
      <p:sp>
        <p:nvSpPr>
          <p:cNvPr id="11" name="step text 2"/>
          <p:cNvSpPr txBox="1"/>
          <p:nvPr/>
        </p:nvSpPr>
        <p:spPr>
          <a:xfrm>
            <a:off x="6263640" y="3566160"/>
            <a:ext cx="2514600" cy="1554480"/>
          </a:xfrm>
          <a:prstGeom prst="rect">
            <a:avLst/>
          </a:prstGeom>
          <a:noFill/>
          <a:ln/>
        </p:spPr>
        <p:txBody>
          <a:bodyPr wrap="square" rtlCol="0" anchor="t"/>
          <a:lstStyle/>
          <a:p>
            <a:pPr algn="ctr" indent="0" marL="0">
              <a:spcAft>
                <a:spcPts val="600"/>
              </a:spcAft>
              <a:buNone/>
            </a:pPr>
            <a:r>
              <a:rPr lang="ar-LY" altLang="en-US" sz="2000" b="1" dirty="0">
                <a:solidFill>
                  <a:schemeClr val="accent1"/>
                </a:solidFill>
              </a:rPr>
              <a:t>العلوم التخصصية</a:t>
            </a:r>
            <a:endParaRPr lang="ar-LY" sz="2000" dirty="0"/>
          </a:p>
          <a:p>
            <a:pPr algn="ctr" indent="0" marL="0">
              <a:spcAft>
                <a:spcPts val="600"/>
              </a:spcAft>
              <a:buNone/>
            </a:pPr>
            <a:r>
              <a:rPr lang="ar-LY" altLang="en-US" sz="1400" dirty="0">
                <a:solidFill>
                  <a:schemeClr val="tx1"/>
                </a:solidFill>
              </a:rPr>
              <a:t>العلاج بالتمرين، العلاج اليدوي، الوسائل الكهربائية</a:t>
            </a:r>
            <a:endParaRPr lang="ar-LY" sz="2000" dirty="0"/>
          </a:p>
        </p:txBody>
      </p:sp>
      <p:sp>
        <p:nvSpPr>
          <p:cNvPr id="12" name="step 3 circle"/>
          <p:cNvSpPr/>
          <p:nvPr/>
        </p:nvSpPr>
        <p:spPr>
          <a:xfrm>
            <a:off x="4064508" y="1737360"/>
            <a:ext cx="1188720" cy="1188720"/>
          </a:xfrm>
          <a:prstGeom prst="ellipse">
            <a:avLst/>
          </a:prstGeom>
          <a:solidFill>
            <a:srgbClr val="0E5E6F"/>
          </a:solidFill>
          <a:ln w="12700">
            <a:solidFill>
              <a:srgbClr val="0E5E6F"/>
            </a:solidFill>
            <a:prstDash val="solid"/>
          </a:ln>
        </p:spPr>
      </p:sp>
      <p:pic>
        <p:nvPicPr>
          <p:cNvPr id="13" name="step 3 icon" descr="step 3">    </p:cNvPr>
          <p:cNvPicPr>
            <a:picLocks noChangeAspect="1"/>
          </p:cNvPicPr>
          <p:nvPr/>
        </p:nvPicPr>
        <p:blipFill>
          <a:blip r:embed="rId3"/>
          <a:stretch>
            <a:fillRect/>
          </a:stretch>
        </p:blipFill>
        <p:spPr>
          <a:xfrm>
            <a:off x="4361688" y="2034540"/>
            <a:ext cx="594360" cy="594360"/>
          </a:xfrm>
          <a:prstGeom prst="rect">
            <a:avLst/>
          </a:prstGeom>
        </p:spPr>
      </p:pic>
      <p:sp>
        <p:nvSpPr>
          <p:cNvPr id="14" name="step label 3"/>
          <p:cNvSpPr txBox="1"/>
          <p:nvPr/>
        </p:nvSpPr>
        <p:spPr>
          <a:xfrm>
            <a:off x="3401568" y="3154680"/>
            <a:ext cx="2514600" cy="365760"/>
          </a:xfrm>
          <a:prstGeom prst="rect">
            <a:avLst/>
          </a:prstGeom>
          <a:noFill/>
          <a:ln/>
        </p:spPr>
        <p:txBody>
          <a:bodyPr wrap="square" rtlCol="0" anchor="ctr"/>
          <a:lstStyle/>
          <a:p>
            <a:pPr rtl="1" algn="ctr" indent="0" marL="0">
              <a:buNone/>
            </a:pPr>
            <a:r>
              <a:rPr lang="ar-LY" altLang="en-US" sz="1400" b="1" dirty="0">
                <a:solidFill>
                  <a:schemeClr val="accent3"/>
                </a:solidFill>
              </a:rPr>
              <a:t>المرحلة 3</a:t>
            </a:r>
            <a:endParaRPr lang="ar-LY" sz="1400" dirty="0"/>
          </a:p>
        </p:txBody>
      </p:sp>
      <p:sp>
        <p:nvSpPr>
          <p:cNvPr id="15" name="step text 3"/>
          <p:cNvSpPr txBox="1"/>
          <p:nvPr/>
        </p:nvSpPr>
        <p:spPr>
          <a:xfrm>
            <a:off x="3401568" y="3566160"/>
            <a:ext cx="2514600" cy="1554480"/>
          </a:xfrm>
          <a:prstGeom prst="rect">
            <a:avLst/>
          </a:prstGeom>
          <a:noFill/>
          <a:ln/>
        </p:spPr>
        <p:txBody>
          <a:bodyPr wrap="square" rtlCol="0" anchor="t"/>
          <a:lstStyle/>
          <a:p>
            <a:pPr algn="ctr" indent="0" marL="0">
              <a:spcAft>
                <a:spcPts val="600"/>
              </a:spcAft>
              <a:buNone/>
            </a:pPr>
            <a:r>
              <a:rPr lang="ar-LY" altLang="en-US" sz="2000" b="1" dirty="0">
                <a:solidFill>
                  <a:schemeClr val="accent1"/>
                </a:solidFill>
              </a:rPr>
              <a:t>التدريب السريري</a:t>
            </a:r>
            <a:endParaRPr lang="ar-LY" sz="2000" dirty="0"/>
          </a:p>
          <a:p>
            <a:pPr algn="ctr" indent="0" marL="0">
              <a:spcAft>
                <a:spcPts val="600"/>
              </a:spcAft>
              <a:buNone/>
            </a:pPr>
            <a:r>
              <a:rPr lang="ar-LY" altLang="en-US" sz="1400" dirty="0">
                <a:solidFill>
                  <a:schemeClr val="tx1"/>
                </a:solidFill>
              </a:rPr>
              <a:t>تطبيق عملي بالمستشفيات ومراكز التأهيل</a:t>
            </a:r>
            <a:endParaRPr lang="ar-LY" sz="2000" dirty="0"/>
          </a:p>
        </p:txBody>
      </p:sp>
      <p:sp>
        <p:nvSpPr>
          <p:cNvPr id="16" name="step 4 circle"/>
          <p:cNvSpPr/>
          <p:nvPr/>
        </p:nvSpPr>
        <p:spPr>
          <a:xfrm>
            <a:off x="1202436" y="1737360"/>
            <a:ext cx="1188720" cy="1188720"/>
          </a:xfrm>
          <a:prstGeom prst="ellipse">
            <a:avLst/>
          </a:prstGeom>
          <a:solidFill>
            <a:srgbClr val="F2A65A"/>
          </a:solidFill>
          <a:ln w="12700">
            <a:solidFill>
              <a:srgbClr val="F2A65A"/>
            </a:solidFill>
            <a:prstDash val="solid"/>
          </a:ln>
        </p:spPr>
      </p:sp>
      <p:pic>
        <p:nvPicPr>
          <p:cNvPr id="17" name="step 4 icon" descr="step 4">    </p:cNvPr>
          <p:cNvPicPr>
            <a:picLocks noChangeAspect="1"/>
          </p:cNvPicPr>
          <p:nvPr/>
        </p:nvPicPr>
        <p:blipFill>
          <a:blip r:embed="rId4"/>
          <a:stretch>
            <a:fillRect/>
          </a:stretch>
        </p:blipFill>
        <p:spPr>
          <a:xfrm>
            <a:off x="1499616" y="2034540"/>
            <a:ext cx="594360" cy="594360"/>
          </a:xfrm>
          <a:prstGeom prst="rect">
            <a:avLst/>
          </a:prstGeom>
        </p:spPr>
      </p:pic>
      <p:sp>
        <p:nvSpPr>
          <p:cNvPr id="18" name="step label 4"/>
          <p:cNvSpPr txBox="1"/>
          <p:nvPr/>
        </p:nvSpPr>
        <p:spPr>
          <a:xfrm>
            <a:off x="539496" y="3154680"/>
            <a:ext cx="2514600" cy="365760"/>
          </a:xfrm>
          <a:prstGeom prst="rect">
            <a:avLst/>
          </a:prstGeom>
          <a:noFill/>
          <a:ln/>
        </p:spPr>
        <p:txBody>
          <a:bodyPr wrap="square" rtlCol="0" anchor="ctr"/>
          <a:lstStyle/>
          <a:p>
            <a:pPr rtl="1" algn="ctr" indent="0" marL="0">
              <a:buNone/>
            </a:pPr>
            <a:r>
              <a:rPr lang="ar-LY" altLang="en-US" sz="1400" b="1" dirty="0">
                <a:solidFill>
                  <a:schemeClr val="accent3"/>
                </a:solidFill>
              </a:rPr>
              <a:t>المرحلة 4</a:t>
            </a:r>
            <a:endParaRPr lang="ar-LY" sz="1400" dirty="0"/>
          </a:p>
        </p:txBody>
      </p:sp>
      <p:sp>
        <p:nvSpPr>
          <p:cNvPr id="19" name="step text 4"/>
          <p:cNvSpPr txBox="1"/>
          <p:nvPr/>
        </p:nvSpPr>
        <p:spPr>
          <a:xfrm>
            <a:off x="539496" y="3566160"/>
            <a:ext cx="2514600" cy="1554480"/>
          </a:xfrm>
          <a:prstGeom prst="rect">
            <a:avLst/>
          </a:prstGeom>
          <a:noFill/>
          <a:ln/>
        </p:spPr>
        <p:txBody>
          <a:bodyPr wrap="square" rtlCol="0" anchor="t"/>
          <a:lstStyle/>
          <a:p>
            <a:pPr algn="ctr" indent="0" marL="0">
              <a:spcAft>
                <a:spcPts val="600"/>
              </a:spcAft>
              <a:buNone/>
            </a:pPr>
            <a:r>
              <a:rPr lang="ar-LY" altLang="en-US" sz="2000" b="1" dirty="0">
                <a:solidFill>
                  <a:schemeClr val="accent1"/>
                </a:solidFill>
              </a:rPr>
              <a:t>التخرج والامتياز</a:t>
            </a:r>
            <a:endParaRPr lang="ar-LY" sz="2000" dirty="0"/>
          </a:p>
          <a:p>
            <a:pPr algn="ctr" indent="0" marL="0">
              <a:spcAft>
                <a:spcPts val="600"/>
              </a:spcAft>
              <a:buNone/>
            </a:pPr>
            <a:r>
              <a:rPr lang="ar-LY" altLang="en-US" sz="1400" dirty="0">
                <a:solidFill>
                  <a:schemeClr val="tx1"/>
                </a:solidFill>
              </a:rPr>
              <a:t>مشروع التخرج والاستعداد لسوق العمل</a:t>
            </a:r>
            <a:endParaRPr lang="ar-LY" sz="2000" dirty="0"/>
          </a:p>
        </p:txBody>
      </p:sp>
      <p:sp>
        <p:nvSpPr>
          <p:cNvPr id="20" name="journey note"/>
          <p:cNvSpPr txBox="1"/>
          <p:nvPr/>
        </p:nvSpPr>
        <p:spPr>
          <a:xfrm>
            <a:off x="548640" y="5440680"/>
            <a:ext cx="11091672" cy="457200"/>
          </a:xfrm>
          <a:prstGeom prst="rect">
            <a:avLst/>
          </a:prstGeom>
          <a:noFill/>
          <a:ln/>
        </p:spPr>
        <p:txBody>
          <a:bodyPr wrap="square" rtlCol="0" anchor="ctr"/>
          <a:lstStyle/>
          <a:p>
            <a:pPr rtl="1" algn="r" indent="0" marL="0">
              <a:buNone/>
            </a:pPr>
            <a:r>
              <a:rPr lang="ar-LY" altLang="en-US" sz="1500" i="1" dirty="0">
                <a:solidFill>
                  <a:schemeClr val="accent5"/>
                </a:solidFill>
              </a:rPr>
              <a:t>يتدرج الطالب من الأساس النظري إلى الممارسة السريرية تحت إشراف أعضاء هيئة التدريس.</a:t>
            </a:r>
            <a:endParaRPr lang="ar-LY" sz="15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rtlCol="0" anchor="ctr"/>
          <a:lstStyle/>
          <a:p>
            <a:pPr rtl="1" algn="r" indent="0" marL="0">
              <a:buNone/>
            </a:pPr>
            <a:r>
              <a:rPr lang="ar-LY" altLang="en-US" sz="3600" b="1" dirty="0">
                <a:solidFill>
                  <a:schemeClr val="accent1"/>
                </a:solidFill>
              </a:rPr>
              <a:t>خريج القسم ومجالات عمله</a:t>
            </a:r>
            <a:endParaRPr lang="ar-LY" sz="3600" dirty="0"/>
          </a:p>
        </p:txBody>
      </p:sp>
      <p:sp>
        <p:nvSpPr>
          <p:cNvPr id="3" name="attributes card"/>
          <p:cNvSpPr/>
          <p:nvPr/>
        </p:nvSpPr>
        <p:spPr>
          <a:xfrm>
            <a:off x="6263640" y="1371600"/>
            <a:ext cx="5376672" cy="4526280"/>
          </a:xfrm>
          <a:prstGeom prst="roundRect">
            <a:avLst>
              <a:gd name="adj" fmla="val 3030"/>
            </a:avLst>
          </a:prstGeom>
          <a:solidFill>
            <a:schemeClr val="bg2"/>
          </a:solidFill>
          <a:ln w="12700">
            <a:solidFill>
              <a:schemeClr val="bg2"/>
            </a:solidFill>
            <a:prstDash val="solid"/>
          </a:ln>
        </p:spPr>
      </p:sp>
      <p:sp>
        <p:nvSpPr>
          <p:cNvPr id="4" name="attributes circle"/>
          <p:cNvSpPr/>
          <p:nvPr/>
        </p:nvSpPr>
        <p:spPr>
          <a:xfrm>
            <a:off x="10652760" y="1600200"/>
            <a:ext cx="777240" cy="777240"/>
          </a:xfrm>
          <a:prstGeom prst="ellipse">
            <a:avLst/>
          </a:prstGeom>
          <a:solidFill>
            <a:srgbClr val="0E5E6F"/>
          </a:solidFill>
          <a:ln w="12700">
            <a:solidFill>
              <a:srgbClr val="0E5E6F"/>
            </a:solidFill>
            <a:prstDash val="solid"/>
          </a:ln>
        </p:spPr>
      </p:sp>
      <p:pic>
        <p:nvPicPr>
          <p:cNvPr id="5" name="attributes icon" descr="attributes">    </p:cNvPr>
          <p:cNvPicPr>
            <a:picLocks noChangeAspect="1"/>
          </p:cNvPicPr>
          <p:nvPr/>
        </p:nvPicPr>
        <p:blipFill>
          <a:blip r:embed="rId1"/>
          <a:stretch>
            <a:fillRect/>
          </a:stretch>
        </p:blipFill>
        <p:spPr>
          <a:xfrm>
            <a:off x="10847070" y="1794510"/>
            <a:ext cx="388620" cy="388620"/>
          </a:xfrm>
          <a:prstGeom prst="rect">
            <a:avLst/>
          </a:prstGeom>
        </p:spPr>
      </p:pic>
      <p:sp>
        <p:nvSpPr>
          <p:cNvPr id="6" name="attributes title"/>
          <p:cNvSpPr txBox="1"/>
          <p:nvPr/>
        </p:nvSpPr>
        <p:spPr>
          <a:xfrm>
            <a:off x="6492240" y="1645920"/>
            <a:ext cx="4023360" cy="685800"/>
          </a:xfrm>
          <a:prstGeom prst="rect">
            <a:avLst/>
          </a:prstGeom>
          <a:noFill/>
          <a:ln/>
        </p:spPr>
        <p:txBody>
          <a:bodyPr wrap="square" lIns="0" tIns="0" rIns="0" bIns="0" rtlCol="0" anchor="ctr"/>
          <a:lstStyle/>
          <a:p>
            <a:pPr rtl="1" algn="r" indent="0" marL="0">
              <a:buNone/>
            </a:pPr>
            <a:r>
              <a:rPr lang="ar-LY" altLang="en-US" sz="2200" b="1" dirty="0">
                <a:solidFill>
                  <a:schemeClr val="accent1"/>
                </a:solidFill>
              </a:rPr>
              <a:t>صفات الخريج</a:t>
            </a:r>
            <a:endParaRPr lang="ar-LY" sz="2200" dirty="0"/>
          </a:p>
        </p:txBody>
      </p:sp>
      <p:sp>
        <p:nvSpPr>
          <p:cNvPr id="7" name="attributes list"/>
          <p:cNvSpPr txBox="1"/>
          <p:nvPr/>
        </p:nvSpPr>
        <p:spPr>
          <a:xfrm>
            <a:off x="6492240" y="2514600"/>
            <a:ext cx="4937760" cy="3200400"/>
          </a:xfrm>
          <a:prstGeom prst="rect">
            <a:avLst/>
          </a:prstGeom>
          <a:noFill/>
          <a:ln/>
        </p:spPr>
        <p:txBody>
          <a:bodyPr wrap="square" rtlCol="0" anchor="t"/>
          <a:lstStyle/>
          <a:p>
            <a:pPr algn="r" marL="342900" indent="-342900">
              <a:spcAft>
                <a:spcPts val="1000"/>
              </a:spcAft>
              <a:buSzPct val="100000"/>
              <a:buChar char="•"/>
            </a:pPr>
            <a:r>
              <a:rPr lang="ar-LY" altLang="en-US" sz="1600" dirty="0">
                <a:solidFill>
                  <a:schemeClr val="tx1"/>
                </a:solidFill>
              </a:rPr>
              <a:t>تقييم الحالة وتشخيص المشكلة الحركية</a:t>
            </a:r>
            <a:endParaRPr lang="ar-LY" sz="1600" dirty="0"/>
          </a:p>
          <a:p>
            <a:pPr algn="r" marL="342900" indent="-342900">
              <a:spcAft>
                <a:spcPts val="1000"/>
              </a:spcAft>
              <a:buSzPct val="100000"/>
              <a:buChar char="•"/>
            </a:pPr>
            <a:r>
              <a:rPr lang="ar-LY" altLang="en-US" sz="1600" dirty="0">
                <a:solidFill>
                  <a:schemeClr val="tx1"/>
                </a:solidFill>
              </a:rPr>
              <a:t>تصميم خطة علاجية وتنفيذها ومتابعتها</a:t>
            </a:r>
            <a:endParaRPr lang="ar-LY" sz="1600" dirty="0"/>
          </a:p>
          <a:p>
            <a:pPr algn="r" marL="342900" indent="-342900">
              <a:spcAft>
                <a:spcPts val="1000"/>
              </a:spcAft>
              <a:buSzPct val="100000"/>
              <a:buChar char="•"/>
            </a:pPr>
            <a:r>
              <a:rPr lang="ar-LY" altLang="en-US" sz="1600" dirty="0">
                <a:solidFill>
                  <a:schemeClr val="tx1"/>
                </a:solidFill>
              </a:rPr>
              <a:t>التواصل الفعّال مع المريض والفريق الصحي</a:t>
            </a:r>
            <a:endParaRPr lang="ar-LY" sz="1600" dirty="0"/>
          </a:p>
          <a:p>
            <a:pPr algn="r" marL="342900" indent="-342900">
              <a:spcAft>
                <a:spcPts val="1000"/>
              </a:spcAft>
              <a:buSzPct val="100000"/>
              <a:buChar char="•"/>
            </a:pPr>
            <a:r>
              <a:rPr lang="ar-LY" altLang="en-US" sz="1600" dirty="0">
                <a:solidFill>
                  <a:schemeClr val="tx1"/>
                </a:solidFill>
              </a:rPr>
              <a:t>الالتزام بأخلاقيات المهنة</a:t>
            </a:r>
            <a:endParaRPr lang="ar-LY" sz="1600" dirty="0"/>
          </a:p>
          <a:p>
            <a:pPr algn="r" marL="342900" indent="-342900">
              <a:spcAft>
                <a:spcPts val="1000"/>
              </a:spcAft>
              <a:buSzPct val="100000"/>
              <a:buChar char="•"/>
            </a:pPr>
            <a:r>
              <a:rPr lang="ar-LY" altLang="en-US" sz="1600" dirty="0">
                <a:solidFill>
                  <a:schemeClr val="tx1"/>
                </a:solidFill>
              </a:rPr>
              <a:t>التعلم المستمر والبحث العلمي</a:t>
            </a:r>
            <a:endParaRPr lang="ar-LY" sz="1600" dirty="0"/>
          </a:p>
        </p:txBody>
      </p:sp>
      <p:sp>
        <p:nvSpPr>
          <p:cNvPr id="8" name="job card 1"/>
          <p:cNvSpPr/>
          <p:nvPr/>
        </p:nvSpPr>
        <p:spPr>
          <a:xfrm>
            <a:off x="3246120" y="1371600"/>
            <a:ext cx="2697480" cy="1325880"/>
          </a:xfrm>
          <a:prstGeom prst="roundRect">
            <a:avLst>
              <a:gd name="adj" fmla="val 8276"/>
            </a:avLst>
          </a:prstGeom>
          <a:solidFill>
            <a:schemeClr val="bg1"/>
          </a:solidFill>
          <a:ln w="15875">
            <a:solidFill>
              <a:schemeClr val="accent4"/>
            </a:solidFill>
            <a:prstDash val="solid"/>
          </a:ln>
        </p:spPr>
      </p:sp>
      <p:sp>
        <p:nvSpPr>
          <p:cNvPr id="9" name="job 1 circle"/>
          <p:cNvSpPr/>
          <p:nvPr/>
        </p:nvSpPr>
        <p:spPr>
          <a:xfrm>
            <a:off x="4297680" y="1508760"/>
            <a:ext cx="594360" cy="594360"/>
          </a:xfrm>
          <a:prstGeom prst="ellipse">
            <a:avLst/>
          </a:prstGeom>
          <a:solidFill>
            <a:srgbClr val="3A9CA8"/>
          </a:solidFill>
          <a:ln w="12700">
            <a:solidFill>
              <a:srgbClr val="3A9CA8"/>
            </a:solidFill>
            <a:prstDash val="solid"/>
          </a:ln>
        </p:spPr>
      </p:sp>
      <p:pic>
        <p:nvPicPr>
          <p:cNvPr id="10" name="job 1 icon" descr="job 1">    </p:cNvPr>
          <p:cNvPicPr>
            <a:picLocks noChangeAspect="1"/>
          </p:cNvPicPr>
          <p:nvPr/>
        </p:nvPicPr>
        <p:blipFill>
          <a:blip r:embed="rId2"/>
          <a:stretch>
            <a:fillRect/>
          </a:stretch>
        </p:blipFill>
        <p:spPr>
          <a:xfrm>
            <a:off x="4446270" y="1657350"/>
            <a:ext cx="297180" cy="297180"/>
          </a:xfrm>
          <a:prstGeom prst="rect">
            <a:avLst/>
          </a:prstGeom>
        </p:spPr>
      </p:pic>
      <p:sp>
        <p:nvSpPr>
          <p:cNvPr id="11" name="job text 1"/>
          <p:cNvSpPr txBox="1"/>
          <p:nvPr/>
        </p:nvSpPr>
        <p:spPr>
          <a:xfrm>
            <a:off x="3337560" y="2148840"/>
            <a:ext cx="2514600" cy="457200"/>
          </a:xfrm>
          <a:prstGeom prst="rect">
            <a:avLst/>
          </a:prstGeom>
          <a:noFill/>
          <a:ln/>
        </p:spPr>
        <p:txBody>
          <a:bodyPr wrap="square" lIns="0" tIns="0" rIns="0" bIns="0" rtlCol="0" anchor="ctr"/>
          <a:lstStyle/>
          <a:p>
            <a:pPr rtl="1" algn="ctr" indent="0" marL="0">
              <a:buNone/>
            </a:pPr>
            <a:r>
              <a:rPr lang="ar-LY" altLang="en-US" sz="1300" b="1" dirty="0">
                <a:solidFill>
                  <a:schemeClr val="tx1"/>
                </a:solidFill>
              </a:rPr>
              <a:t>المستشفيات العامة والخاصة</a:t>
            </a:r>
            <a:endParaRPr lang="ar-LY" sz="1300" dirty="0"/>
          </a:p>
        </p:txBody>
      </p:sp>
      <p:sp>
        <p:nvSpPr>
          <p:cNvPr id="12" name="job card 2"/>
          <p:cNvSpPr/>
          <p:nvPr/>
        </p:nvSpPr>
        <p:spPr>
          <a:xfrm>
            <a:off x="365760" y="1371600"/>
            <a:ext cx="2697480" cy="1325880"/>
          </a:xfrm>
          <a:prstGeom prst="roundRect">
            <a:avLst>
              <a:gd name="adj" fmla="val 8276"/>
            </a:avLst>
          </a:prstGeom>
          <a:solidFill>
            <a:schemeClr val="bg1"/>
          </a:solidFill>
          <a:ln w="15875">
            <a:solidFill>
              <a:schemeClr val="accent4"/>
            </a:solidFill>
            <a:prstDash val="solid"/>
          </a:ln>
        </p:spPr>
      </p:sp>
      <p:sp>
        <p:nvSpPr>
          <p:cNvPr id="13" name="job 2 circle"/>
          <p:cNvSpPr/>
          <p:nvPr/>
        </p:nvSpPr>
        <p:spPr>
          <a:xfrm>
            <a:off x="1417320" y="1508760"/>
            <a:ext cx="594360" cy="594360"/>
          </a:xfrm>
          <a:prstGeom prst="ellipse">
            <a:avLst/>
          </a:prstGeom>
          <a:solidFill>
            <a:srgbClr val="3A9CA8"/>
          </a:solidFill>
          <a:ln w="12700">
            <a:solidFill>
              <a:srgbClr val="3A9CA8"/>
            </a:solidFill>
            <a:prstDash val="solid"/>
          </a:ln>
        </p:spPr>
      </p:sp>
      <p:pic>
        <p:nvPicPr>
          <p:cNvPr id="14" name="job 2 icon" descr="job 2">    </p:cNvPr>
          <p:cNvPicPr>
            <a:picLocks noChangeAspect="1"/>
          </p:cNvPicPr>
          <p:nvPr/>
        </p:nvPicPr>
        <p:blipFill>
          <a:blip r:embed="rId3"/>
          <a:stretch>
            <a:fillRect/>
          </a:stretch>
        </p:blipFill>
        <p:spPr>
          <a:xfrm>
            <a:off x="1565910" y="1657350"/>
            <a:ext cx="297180" cy="297180"/>
          </a:xfrm>
          <a:prstGeom prst="rect">
            <a:avLst/>
          </a:prstGeom>
        </p:spPr>
      </p:pic>
      <p:sp>
        <p:nvSpPr>
          <p:cNvPr id="15" name="job text 2"/>
          <p:cNvSpPr txBox="1"/>
          <p:nvPr/>
        </p:nvSpPr>
        <p:spPr>
          <a:xfrm>
            <a:off x="457200" y="2148840"/>
            <a:ext cx="2514600" cy="457200"/>
          </a:xfrm>
          <a:prstGeom prst="rect">
            <a:avLst/>
          </a:prstGeom>
          <a:noFill/>
          <a:ln/>
        </p:spPr>
        <p:txBody>
          <a:bodyPr wrap="square" lIns="0" tIns="0" rIns="0" bIns="0" rtlCol="0" anchor="ctr"/>
          <a:lstStyle/>
          <a:p>
            <a:pPr rtl="1" algn="ctr" indent="0" marL="0">
              <a:buNone/>
            </a:pPr>
            <a:r>
              <a:rPr lang="ar-LY" altLang="en-US" sz="1300" b="1" dirty="0">
                <a:solidFill>
                  <a:schemeClr val="tx1"/>
                </a:solidFill>
              </a:rPr>
              <a:t>مراكز العلاج الطبيعي والتأهيل</a:t>
            </a:r>
            <a:endParaRPr lang="ar-LY" sz="1300" dirty="0"/>
          </a:p>
        </p:txBody>
      </p:sp>
      <p:sp>
        <p:nvSpPr>
          <p:cNvPr id="16" name="job card 3"/>
          <p:cNvSpPr/>
          <p:nvPr/>
        </p:nvSpPr>
        <p:spPr>
          <a:xfrm>
            <a:off x="3246120" y="2971800"/>
            <a:ext cx="2697480" cy="1325880"/>
          </a:xfrm>
          <a:prstGeom prst="roundRect">
            <a:avLst>
              <a:gd name="adj" fmla="val 8276"/>
            </a:avLst>
          </a:prstGeom>
          <a:solidFill>
            <a:schemeClr val="bg1"/>
          </a:solidFill>
          <a:ln w="15875">
            <a:solidFill>
              <a:schemeClr val="accent4"/>
            </a:solidFill>
            <a:prstDash val="solid"/>
          </a:ln>
        </p:spPr>
      </p:sp>
      <p:sp>
        <p:nvSpPr>
          <p:cNvPr id="17" name="job 3 circle"/>
          <p:cNvSpPr/>
          <p:nvPr/>
        </p:nvSpPr>
        <p:spPr>
          <a:xfrm>
            <a:off x="4297680" y="3108960"/>
            <a:ext cx="594360" cy="594360"/>
          </a:xfrm>
          <a:prstGeom prst="ellipse">
            <a:avLst/>
          </a:prstGeom>
          <a:solidFill>
            <a:srgbClr val="3A9CA8"/>
          </a:solidFill>
          <a:ln w="12700">
            <a:solidFill>
              <a:srgbClr val="3A9CA8"/>
            </a:solidFill>
            <a:prstDash val="solid"/>
          </a:ln>
        </p:spPr>
      </p:sp>
      <p:pic>
        <p:nvPicPr>
          <p:cNvPr id="18" name="job 3 icon" descr="job 3">    </p:cNvPr>
          <p:cNvPicPr>
            <a:picLocks noChangeAspect="1"/>
          </p:cNvPicPr>
          <p:nvPr/>
        </p:nvPicPr>
        <p:blipFill>
          <a:blip r:embed="rId4"/>
          <a:stretch>
            <a:fillRect/>
          </a:stretch>
        </p:blipFill>
        <p:spPr>
          <a:xfrm>
            <a:off x="4446270" y="3257550"/>
            <a:ext cx="297180" cy="297180"/>
          </a:xfrm>
          <a:prstGeom prst="rect">
            <a:avLst/>
          </a:prstGeom>
        </p:spPr>
      </p:pic>
      <p:sp>
        <p:nvSpPr>
          <p:cNvPr id="19" name="job text 3"/>
          <p:cNvSpPr txBox="1"/>
          <p:nvPr/>
        </p:nvSpPr>
        <p:spPr>
          <a:xfrm>
            <a:off x="3337560" y="3749040"/>
            <a:ext cx="2514600" cy="457200"/>
          </a:xfrm>
          <a:prstGeom prst="rect">
            <a:avLst/>
          </a:prstGeom>
          <a:noFill/>
          <a:ln/>
        </p:spPr>
        <p:txBody>
          <a:bodyPr wrap="square" lIns="0" tIns="0" rIns="0" bIns="0" rtlCol="0" anchor="ctr"/>
          <a:lstStyle/>
          <a:p>
            <a:pPr rtl="1" algn="ctr" indent="0" marL="0">
              <a:buNone/>
            </a:pPr>
            <a:r>
              <a:rPr lang="ar-LY" altLang="en-US" sz="1300" b="1" dirty="0">
                <a:solidFill>
                  <a:schemeClr val="tx1"/>
                </a:solidFill>
              </a:rPr>
              <a:t>الأندية والفرق الرياضية</a:t>
            </a:r>
            <a:endParaRPr lang="ar-LY" sz="1300" dirty="0"/>
          </a:p>
        </p:txBody>
      </p:sp>
      <p:sp>
        <p:nvSpPr>
          <p:cNvPr id="20" name="job card 4"/>
          <p:cNvSpPr/>
          <p:nvPr/>
        </p:nvSpPr>
        <p:spPr>
          <a:xfrm>
            <a:off x="365760" y="2971800"/>
            <a:ext cx="2697480" cy="1325880"/>
          </a:xfrm>
          <a:prstGeom prst="roundRect">
            <a:avLst>
              <a:gd name="adj" fmla="val 8276"/>
            </a:avLst>
          </a:prstGeom>
          <a:solidFill>
            <a:schemeClr val="bg1"/>
          </a:solidFill>
          <a:ln w="15875">
            <a:solidFill>
              <a:schemeClr val="accent4"/>
            </a:solidFill>
            <a:prstDash val="solid"/>
          </a:ln>
        </p:spPr>
      </p:sp>
      <p:sp>
        <p:nvSpPr>
          <p:cNvPr id="21" name="job 4 circle"/>
          <p:cNvSpPr/>
          <p:nvPr/>
        </p:nvSpPr>
        <p:spPr>
          <a:xfrm>
            <a:off x="1417320" y="3108960"/>
            <a:ext cx="594360" cy="594360"/>
          </a:xfrm>
          <a:prstGeom prst="ellipse">
            <a:avLst/>
          </a:prstGeom>
          <a:solidFill>
            <a:srgbClr val="3A9CA8"/>
          </a:solidFill>
          <a:ln w="12700">
            <a:solidFill>
              <a:srgbClr val="3A9CA8"/>
            </a:solidFill>
            <a:prstDash val="solid"/>
          </a:ln>
        </p:spPr>
      </p:sp>
      <p:pic>
        <p:nvPicPr>
          <p:cNvPr id="22" name="job 4 icon" descr="job 4">    </p:cNvPr>
          <p:cNvPicPr>
            <a:picLocks noChangeAspect="1"/>
          </p:cNvPicPr>
          <p:nvPr/>
        </p:nvPicPr>
        <p:blipFill>
          <a:blip r:embed="rId5"/>
          <a:stretch>
            <a:fillRect/>
          </a:stretch>
        </p:blipFill>
        <p:spPr>
          <a:xfrm>
            <a:off x="1565910" y="3257550"/>
            <a:ext cx="297180" cy="297180"/>
          </a:xfrm>
          <a:prstGeom prst="rect">
            <a:avLst/>
          </a:prstGeom>
        </p:spPr>
      </p:pic>
      <p:sp>
        <p:nvSpPr>
          <p:cNvPr id="23" name="job text 4"/>
          <p:cNvSpPr txBox="1"/>
          <p:nvPr/>
        </p:nvSpPr>
        <p:spPr>
          <a:xfrm>
            <a:off x="457200" y="3749040"/>
            <a:ext cx="2514600" cy="457200"/>
          </a:xfrm>
          <a:prstGeom prst="rect">
            <a:avLst/>
          </a:prstGeom>
          <a:noFill/>
          <a:ln/>
        </p:spPr>
        <p:txBody>
          <a:bodyPr wrap="square" lIns="0" tIns="0" rIns="0" bIns="0" rtlCol="0" anchor="ctr"/>
          <a:lstStyle/>
          <a:p>
            <a:pPr rtl="1" algn="ctr" indent="0" marL="0">
              <a:buNone/>
            </a:pPr>
            <a:r>
              <a:rPr lang="ar-LY" altLang="en-US" sz="1300" b="1" dirty="0">
                <a:solidFill>
                  <a:schemeClr val="tx1"/>
                </a:solidFill>
              </a:rPr>
              <a:t>مراكز ذوي الاحتياجات الخاصة</a:t>
            </a:r>
            <a:endParaRPr lang="ar-LY" sz="1300" dirty="0"/>
          </a:p>
        </p:txBody>
      </p:sp>
      <p:sp>
        <p:nvSpPr>
          <p:cNvPr id="24" name="job card 5"/>
          <p:cNvSpPr/>
          <p:nvPr/>
        </p:nvSpPr>
        <p:spPr>
          <a:xfrm>
            <a:off x="3246120" y="4572000"/>
            <a:ext cx="2697480" cy="1325880"/>
          </a:xfrm>
          <a:prstGeom prst="roundRect">
            <a:avLst>
              <a:gd name="adj" fmla="val 8276"/>
            </a:avLst>
          </a:prstGeom>
          <a:solidFill>
            <a:schemeClr val="bg1"/>
          </a:solidFill>
          <a:ln w="15875">
            <a:solidFill>
              <a:schemeClr val="accent4"/>
            </a:solidFill>
            <a:prstDash val="solid"/>
          </a:ln>
        </p:spPr>
      </p:sp>
      <p:sp>
        <p:nvSpPr>
          <p:cNvPr id="25" name="job 5 circle"/>
          <p:cNvSpPr/>
          <p:nvPr/>
        </p:nvSpPr>
        <p:spPr>
          <a:xfrm>
            <a:off x="4297680" y="4709160"/>
            <a:ext cx="594360" cy="594360"/>
          </a:xfrm>
          <a:prstGeom prst="ellipse">
            <a:avLst/>
          </a:prstGeom>
          <a:solidFill>
            <a:srgbClr val="3A9CA8"/>
          </a:solidFill>
          <a:ln w="12700">
            <a:solidFill>
              <a:srgbClr val="3A9CA8"/>
            </a:solidFill>
            <a:prstDash val="solid"/>
          </a:ln>
        </p:spPr>
      </p:sp>
      <p:pic>
        <p:nvPicPr>
          <p:cNvPr id="26" name="job 5 icon" descr="job 5">    </p:cNvPr>
          <p:cNvPicPr>
            <a:picLocks noChangeAspect="1"/>
          </p:cNvPicPr>
          <p:nvPr/>
        </p:nvPicPr>
        <p:blipFill>
          <a:blip r:embed="rId6"/>
          <a:stretch>
            <a:fillRect/>
          </a:stretch>
        </p:blipFill>
        <p:spPr>
          <a:xfrm>
            <a:off x="4446270" y="4857750"/>
            <a:ext cx="297180" cy="297180"/>
          </a:xfrm>
          <a:prstGeom prst="rect">
            <a:avLst/>
          </a:prstGeom>
        </p:spPr>
      </p:pic>
      <p:sp>
        <p:nvSpPr>
          <p:cNvPr id="27" name="job text 5"/>
          <p:cNvSpPr txBox="1"/>
          <p:nvPr/>
        </p:nvSpPr>
        <p:spPr>
          <a:xfrm>
            <a:off x="3337560" y="5349240"/>
            <a:ext cx="2514600" cy="457200"/>
          </a:xfrm>
          <a:prstGeom prst="rect">
            <a:avLst/>
          </a:prstGeom>
          <a:noFill/>
          <a:ln/>
        </p:spPr>
        <p:txBody>
          <a:bodyPr wrap="square" lIns="0" tIns="0" rIns="0" bIns="0" rtlCol="0" anchor="ctr"/>
          <a:lstStyle/>
          <a:p>
            <a:pPr rtl="1" algn="ctr" indent="0" marL="0">
              <a:buNone/>
            </a:pPr>
            <a:r>
              <a:rPr lang="ar-LY" altLang="en-US" sz="1300" b="1" dirty="0">
                <a:solidFill>
                  <a:schemeClr val="tx1"/>
                </a:solidFill>
              </a:rPr>
              <a:t>الرعاية المنزلية</a:t>
            </a:r>
            <a:endParaRPr lang="ar-LY" sz="1300" dirty="0"/>
          </a:p>
        </p:txBody>
      </p:sp>
      <p:sp>
        <p:nvSpPr>
          <p:cNvPr id="28" name="job card 6"/>
          <p:cNvSpPr/>
          <p:nvPr/>
        </p:nvSpPr>
        <p:spPr>
          <a:xfrm>
            <a:off x="365760" y="4572000"/>
            <a:ext cx="2697480" cy="1325880"/>
          </a:xfrm>
          <a:prstGeom prst="roundRect">
            <a:avLst>
              <a:gd name="adj" fmla="val 8276"/>
            </a:avLst>
          </a:prstGeom>
          <a:solidFill>
            <a:schemeClr val="bg1"/>
          </a:solidFill>
          <a:ln w="15875">
            <a:solidFill>
              <a:schemeClr val="accent4"/>
            </a:solidFill>
            <a:prstDash val="solid"/>
          </a:ln>
        </p:spPr>
      </p:sp>
      <p:sp>
        <p:nvSpPr>
          <p:cNvPr id="29" name="job 6 circle"/>
          <p:cNvSpPr/>
          <p:nvPr/>
        </p:nvSpPr>
        <p:spPr>
          <a:xfrm>
            <a:off x="1417320" y="4709160"/>
            <a:ext cx="594360" cy="594360"/>
          </a:xfrm>
          <a:prstGeom prst="ellipse">
            <a:avLst/>
          </a:prstGeom>
          <a:solidFill>
            <a:srgbClr val="3A9CA8"/>
          </a:solidFill>
          <a:ln w="12700">
            <a:solidFill>
              <a:srgbClr val="3A9CA8"/>
            </a:solidFill>
            <a:prstDash val="solid"/>
          </a:ln>
        </p:spPr>
      </p:sp>
      <p:pic>
        <p:nvPicPr>
          <p:cNvPr id="30" name="job 6 icon" descr="job 6">    </p:cNvPr>
          <p:cNvPicPr>
            <a:picLocks noChangeAspect="1"/>
          </p:cNvPicPr>
          <p:nvPr/>
        </p:nvPicPr>
        <p:blipFill>
          <a:blip r:embed="rId7"/>
          <a:stretch>
            <a:fillRect/>
          </a:stretch>
        </p:blipFill>
        <p:spPr>
          <a:xfrm>
            <a:off x="1565910" y="4857750"/>
            <a:ext cx="297180" cy="297180"/>
          </a:xfrm>
          <a:prstGeom prst="rect">
            <a:avLst/>
          </a:prstGeom>
        </p:spPr>
      </p:pic>
      <p:sp>
        <p:nvSpPr>
          <p:cNvPr id="31" name="job text 6"/>
          <p:cNvSpPr txBox="1"/>
          <p:nvPr/>
        </p:nvSpPr>
        <p:spPr>
          <a:xfrm>
            <a:off x="457200" y="5349240"/>
            <a:ext cx="2514600" cy="457200"/>
          </a:xfrm>
          <a:prstGeom prst="rect">
            <a:avLst/>
          </a:prstGeom>
          <a:noFill/>
          <a:ln/>
        </p:spPr>
        <p:txBody>
          <a:bodyPr wrap="square" lIns="0" tIns="0" rIns="0" bIns="0" rtlCol="0" anchor="ctr"/>
          <a:lstStyle/>
          <a:p>
            <a:pPr rtl="1" algn="ctr" indent="0" marL="0">
              <a:buNone/>
            </a:pPr>
            <a:r>
              <a:rPr lang="ar-LY" altLang="en-US" sz="1300" b="1" dirty="0">
                <a:solidFill>
                  <a:schemeClr val="tx1"/>
                </a:solidFill>
              </a:rPr>
              <a:t>التدريس والبحث العلمي</a:t>
            </a:r>
            <a:endParaRPr lang="ar-LY" sz="13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deco circle"/>
          <p:cNvSpPr/>
          <p:nvPr/>
        </p:nvSpPr>
        <p:spPr>
          <a:xfrm>
            <a:off x="8778240" y="3108960"/>
            <a:ext cx="5029200" cy="5029200"/>
          </a:xfrm>
          <a:prstGeom prst="ellipse">
            <a:avLst/>
          </a:prstGeom>
          <a:solidFill>
            <a:schemeClr val="accent2">
              <a:alpha val="40000"/>
            </a:schemeClr>
          </a:solidFill>
          <a:ln w="12700">
            <a:solidFill>
              <a:schemeClr val="accent2">
                <a:alpha val="0"/>
              </a:schemeClr>
            </a:solidFill>
            <a:prstDash val="solid"/>
          </a:ln>
        </p:spPr>
      </p:sp>
      <p:sp>
        <p:nvSpPr>
          <p:cNvPr id="3" name="Text 0"/>
          <p:cNvSpPr/>
          <p:nvPr>
            <p:ph idx="100" type="title" hasCustomPrompt="1"/>
          </p:nvPr>
        </p:nvSpPr>
        <p:spPr>
          <a:xfrm>
            <a:off x="731520" y="2011680"/>
            <a:ext cx="10698480" cy="1280160"/>
          </a:xfrm>
          <a:prstGeom prst="rect">
            <a:avLst/>
          </a:prstGeom>
          <a:noFill/>
          <a:ln/>
        </p:spPr>
        <p:txBody>
          <a:bodyPr wrap="square" rtlCol="0" anchor="ctr"/>
          <a:lstStyle/>
          <a:p>
            <a:pPr rtl="1" algn="r" indent="0" marL="0">
              <a:buNone/>
            </a:pPr>
            <a:r>
              <a:rPr lang="ar-LY" altLang="en-US" sz="4400" b="1" dirty="0">
                <a:solidFill>
                  <a:schemeClr val="bg1"/>
                </a:solidFill>
              </a:rPr>
              <a:t>شكراً لحسن استماعكم</a:t>
            </a:r>
            <a:endParaRPr lang="ar-LY" sz="4400" dirty="0"/>
          </a:p>
        </p:txBody>
      </p:sp>
      <p:sp>
        <p:nvSpPr>
          <p:cNvPr id="4" name="tagline"/>
          <p:cNvSpPr txBox="1"/>
          <p:nvPr/>
        </p:nvSpPr>
        <p:spPr>
          <a:xfrm>
            <a:off x="731520" y="3291840"/>
            <a:ext cx="10698480" cy="640080"/>
          </a:xfrm>
          <a:prstGeom prst="rect">
            <a:avLst/>
          </a:prstGeom>
          <a:noFill/>
          <a:ln/>
        </p:spPr>
        <p:txBody>
          <a:bodyPr wrap="square" rtlCol="0" anchor="ctr"/>
          <a:lstStyle/>
          <a:p>
            <a:pPr rtl="1" algn="r" indent="0" marL="0">
              <a:buNone/>
            </a:pPr>
            <a:r>
              <a:rPr lang="ar-LY" altLang="en-US" sz="2200" i="1" dirty="0">
                <a:solidFill>
                  <a:schemeClr val="accent4"/>
                </a:solidFill>
              </a:rPr>
              <a:t>نحو كوادر مؤهلة تُعيد للإنسان قدرته على الحركة وجودة الحياة</a:t>
            </a:r>
            <a:endParaRPr lang="ar-LY" sz="2200" dirty="0"/>
          </a:p>
        </p:txBody>
      </p:sp>
      <p:sp>
        <p:nvSpPr>
          <p:cNvPr id="5" name="closing info"/>
          <p:cNvSpPr txBox="1"/>
          <p:nvPr/>
        </p:nvSpPr>
        <p:spPr>
          <a:xfrm>
            <a:off x="731520" y="4480560"/>
            <a:ext cx="10698480" cy="914400"/>
          </a:xfrm>
          <a:prstGeom prst="rect">
            <a:avLst/>
          </a:prstGeom>
          <a:noFill/>
          <a:ln/>
        </p:spPr>
        <p:txBody>
          <a:bodyPr wrap="square" rtlCol="0" anchor="ctr"/>
          <a:lstStyle/>
          <a:p>
            <a:pPr algn="r" indent="0" marL="0">
              <a:buNone/>
            </a:pPr>
            <a:r>
              <a:rPr lang="ar-LY" altLang="en-US" sz="1600" dirty="0">
                <a:solidFill>
                  <a:schemeClr val="bg1"/>
                </a:solidFill>
              </a:rPr>
              <a:t>قسم العلاج الطبيعي - كلية العلوم الصحية العجيلات - جامعة الزاوية</a:t>
            </a:r>
            <a:endParaRPr lang="ar-LY" sz="1600" dirty="0"/>
          </a:p>
          <a:p>
            <a:pPr algn="r" indent="0" marL="0">
              <a:buNone/>
            </a:pPr>
            <a:r>
              <a:rPr lang="ar-LY" altLang="en-US" sz="1800" b="1" dirty="0">
                <a:solidFill>
                  <a:schemeClr val="accent3"/>
                </a:solidFill>
              </a:rPr>
              <a:t>رئيس القسم: د. سناء بلق</a:t>
            </a:r>
            <a:endParaRPr lang="ar-LY" sz="1600" dirty="0"/>
          </a:p>
        </p:txBody>
      </p:sp>
    </p:spTree>
  </p:cSld>
  <p:clrMapOvr>
    <a:masterClrMapping/>
  </p:clrMapOvr>
</p:sld>
</file>

<file path=ppt/theme/theme1.xml><?xml version="1.0" encoding="utf-8"?>
<a:theme xmlns:a="http://schemas.openxmlformats.org/drawingml/2006/main" name="Physio Ajaylat">
  <a:themeElements>
    <a:clrScheme name="Physio Ajaylat">
      <a:dk1>
        <a:srgbClr val="1B2B34"/>
      </a:dk1>
      <a:lt1>
        <a:srgbClr val="FFFFFF"/>
      </a:lt1>
      <a:dk2>
        <a:srgbClr val="0E5E6F"/>
      </a:dk2>
      <a:lt2>
        <a:srgbClr val="EAF4F5"/>
      </a:lt2>
      <a:accent1>
        <a:srgbClr val="0E5E6F"/>
      </a:accent1>
      <a:accent2>
        <a:srgbClr val="3A9CA8"/>
      </a:accent2>
      <a:accent3>
        <a:srgbClr val="F2A65A"/>
      </a:accent3>
      <a:accent4>
        <a:srgbClr val="7FC8C2"/>
      </a:accent4>
      <a:accent5>
        <a:srgbClr val="5B6B73"/>
      </a:accent5>
      <a:accent6>
        <a:srgbClr val="D9534F"/>
      </a:accent6>
      <a:hlink>
        <a:srgbClr val="0E5E6F"/>
      </a:hlink>
      <a:folHlink>
        <a:srgbClr val="3A9CA8"/>
      </a:folHlink>
    </a:clrScheme>
    <a:fontScheme name="Physio Ajayla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قسم العلاج الطبيعي - كلية العلوم الصحية العجيلات</dc:title>
  <dc:subject>PptxGenJS Presentation</dc:subject>
  <dc:creator>قسم العلاج الطبيعي</dc:creator>
  <cp:lastModifiedBy>قسم العلاج الطبيعي</cp:lastModifiedBy>
  <cp:revision>1</cp:revision>
  <dcterms:created xsi:type="dcterms:W3CDTF">2026-10-31T09:29:23Z</dcterms:created>
  <dcterms:modified xsi:type="dcterms:W3CDTF">2026-10-31T09:29:23Z</dcterms:modified>
</cp:coreProperties>
</file>